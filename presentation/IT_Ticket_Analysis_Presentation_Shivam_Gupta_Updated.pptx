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74" r:id="rId5"/>
    <p:sldId id="275" r:id="rId6"/>
    <p:sldId id="276" r:id="rId7"/>
    <p:sldId id="277" r:id="rId8"/>
    <p:sldId id="278" r:id="rId9"/>
    <p:sldId id="279" r:id="rId10"/>
    <p:sldId id="280" r:id="rId11"/>
    <p:sldId id="281" r:id="rId12"/>
    <p:sldId id="268" r:id="rId13"/>
    <p:sldId id="266"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072" autoAdjust="0"/>
  </p:normalViewPr>
  <p:slideViewPr>
    <p:cSldViewPr snapToGrid="0">
      <p:cViewPr varScale="1">
        <p:scale>
          <a:sx n="77" d="100"/>
          <a:sy n="77" d="100"/>
        </p:scale>
        <p:origin x="912"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95622B-B74E-4CC1-96B2-D578ECA0FAFA}" type="datetimeFigureOut">
              <a:rPr lang="en-IN" smtClean="0"/>
              <a:t>26-03-2026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8C3579-A9FC-493C-B2C3-0B544384DC62}" type="slidenum">
              <a:rPr lang="en-IN" smtClean="0"/>
              <a:t>‹#›</a:t>
            </a:fld>
            <a:endParaRPr lang="en-IN"/>
          </a:p>
        </p:txBody>
      </p:sp>
    </p:spTree>
    <p:extLst>
      <p:ext uri="{BB962C8B-B14F-4D97-AF65-F5344CB8AC3E}">
        <p14:creationId xmlns:p14="http://schemas.microsoft.com/office/powerpoint/2010/main" val="1049843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18C3579-A9FC-493C-B2C3-0B544384DC62}" type="slidenum">
              <a:rPr lang="en-IN" smtClean="0"/>
              <a:t>13</a:t>
            </a:fld>
            <a:endParaRPr lang="en-IN"/>
          </a:p>
        </p:txBody>
      </p:sp>
    </p:spTree>
    <p:extLst>
      <p:ext uri="{BB962C8B-B14F-4D97-AF65-F5344CB8AC3E}">
        <p14:creationId xmlns:p14="http://schemas.microsoft.com/office/powerpoint/2010/main" val="622436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DD4AE-9637-F0A3-425B-2CCBACFA25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8DB6134-8278-30A6-73B9-CAAEE6B4F7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C4D8E1-D63A-5814-E337-A0BB3361D43E}"/>
              </a:ext>
            </a:extLst>
          </p:cNvPr>
          <p:cNvSpPr>
            <a:spLocks noGrp="1"/>
          </p:cNvSpPr>
          <p:nvPr>
            <p:ph type="dt" sz="half" idx="10"/>
          </p:nvPr>
        </p:nvSpPr>
        <p:spPr/>
        <p:txBody>
          <a:bodyPr/>
          <a:lstStyle/>
          <a:p>
            <a:fld id="{9F9DBBAC-FFE2-41CA-A25C-E977BC328EF5}" type="datetimeFigureOut">
              <a:rPr lang="en-US" smtClean="0"/>
              <a:t>3/26/2026</a:t>
            </a:fld>
            <a:endParaRPr lang="en-US"/>
          </a:p>
        </p:txBody>
      </p:sp>
      <p:sp>
        <p:nvSpPr>
          <p:cNvPr id="5" name="Footer Placeholder 4">
            <a:extLst>
              <a:ext uri="{FF2B5EF4-FFF2-40B4-BE49-F238E27FC236}">
                <a16:creationId xmlns:a16="http://schemas.microsoft.com/office/drawing/2014/main" id="{906FD10B-6268-37A2-3966-8423985433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BA6E1-119F-A9D9-5655-85854E686718}"/>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974550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47C2F-37BC-935E-08CC-001F66404C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782482-9EBD-822F-AB3B-65D870D9CB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DCEDBC-9761-1089-DE20-9484D33BDBE6}"/>
              </a:ext>
            </a:extLst>
          </p:cNvPr>
          <p:cNvSpPr>
            <a:spLocks noGrp="1"/>
          </p:cNvSpPr>
          <p:nvPr>
            <p:ph type="dt" sz="half" idx="10"/>
          </p:nvPr>
        </p:nvSpPr>
        <p:spPr/>
        <p:txBody>
          <a:bodyPr/>
          <a:lstStyle/>
          <a:p>
            <a:fld id="{9F9DBBAC-FFE2-41CA-A25C-E977BC328EF5}" type="datetimeFigureOut">
              <a:rPr lang="en-US" smtClean="0"/>
              <a:t>3/26/2026</a:t>
            </a:fld>
            <a:endParaRPr lang="en-US"/>
          </a:p>
        </p:txBody>
      </p:sp>
      <p:sp>
        <p:nvSpPr>
          <p:cNvPr id="5" name="Footer Placeholder 4">
            <a:extLst>
              <a:ext uri="{FF2B5EF4-FFF2-40B4-BE49-F238E27FC236}">
                <a16:creationId xmlns:a16="http://schemas.microsoft.com/office/drawing/2014/main" id="{66935E64-4524-ED12-ECEB-00D5A5199D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58EB13-7A7C-2110-C6DE-72C2DA0C8DE2}"/>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467299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CEBCF-3278-22A4-9FE2-7E0D5825DA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791338-4876-F9AE-FEA9-A986746CAF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804A0A-6F19-0A70-89E1-D458295F6643}"/>
              </a:ext>
            </a:extLst>
          </p:cNvPr>
          <p:cNvSpPr>
            <a:spLocks noGrp="1"/>
          </p:cNvSpPr>
          <p:nvPr>
            <p:ph type="dt" sz="half" idx="10"/>
          </p:nvPr>
        </p:nvSpPr>
        <p:spPr/>
        <p:txBody>
          <a:bodyPr/>
          <a:lstStyle/>
          <a:p>
            <a:fld id="{9F9DBBAC-FFE2-41CA-A25C-E977BC328EF5}" type="datetimeFigureOut">
              <a:rPr lang="en-US" smtClean="0"/>
              <a:t>3/26/2026</a:t>
            </a:fld>
            <a:endParaRPr lang="en-US"/>
          </a:p>
        </p:txBody>
      </p:sp>
      <p:sp>
        <p:nvSpPr>
          <p:cNvPr id="5" name="Footer Placeholder 4">
            <a:extLst>
              <a:ext uri="{FF2B5EF4-FFF2-40B4-BE49-F238E27FC236}">
                <a16:creationId xmlns:a16="http://schemas.microsoft.com/office/drawing/2014/main" id="{501A31D1-3B74-FD48-3297-0B8450760B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17C6E3-75E9-8785-7A00-DBC32F6C810F}"/>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2008005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29D06-F78B-79FA-9F9C-FC9373389E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83447F-A232-89B9-3F99-A8B77053F3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FA55239-21AA-CE78-7AF9-5A4726C577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88BE41-72FC-4256-0D72-C7AB5A5F7F26}"/>
              </a:ext>
            </a:extLst>
          </p:cNvPr>
          <p:cNvSpPr>
            <a:spLocks noGrp="1"/>
          </p:cNvSpPr>
          <p:nvPr>
            <p:ph type="dt" sz="half" idx="10"/>
          </p:nvPr>
        </p:nvSpPr>
        <p:spPr/>
        <p:txBody>
          <a:bodyPr/>
          <a:lstStyle/>
          <a:p>
            <a:fld id="{9F9DBBAC-FFE2-41CA-A25C-E977BC328EF5}" type="datetimeFigureOut">
              <a:rPr lang="en-US" smtClean="0"/>
              <a:t>3/26/2026</a:t>
            </a:fld>
            <a:endParaRPr lang="en-US"/>
          </a:p>
        </p:txBody>
      </p:sp>
      <p:sp>
        <p:nvSpPr>
          <p:cNvPr id="6" name="Footer Placeholder 5">
            <a:extLst>
              <a:ext uri="{FF2B5EF4-FFF2-40B4-BE49-F238E27FC236}">
                <a16:creationId xmlns:a16="http://schemas.microsoft.com/office/drawing/2014/main" id="{ACC2AAB2-82F6-A7D0-B1A2-F0CF043959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7592D3-B6CB-6AAB-7AC3-3A83E96BD867}"/>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2824814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176E1-2687-4441-1115-EBE68BC6DA3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C0072D7-FB8E-2512-2287-EEDDB96061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505742-E3CB-0A30-DAFA-5DAD53BCB0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FCF2284-E103-785A-9770-6CB5067E9F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B882A2-8F30-A864-561A-DA16DF345B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AF978E3-13C8-634B-82D3-5894F517957F}"/>
              </a:ext>
            </a:extLst>
          </p:cNvPr>
          <p:cNvSpPr>
            <a:spLocks noGrp="1"/>
          </p:cNvSpPr>
          <p:nvPr>
            <p:ph type="dt" sz="half" idx="10"/>
          </p:nvPr>
        </p:nvSpPr>
        <p:spPr/>
        <p:txBody>
          <a:bodyPr/>
          <a:lstStyle/>
          <a:p>
            <a:fld id="{9F9DBBAC-FFE2-41CA-A25C-E977BC328EF5}" type="datetimeFigureOut">
              <a:rPr lang="en-US" smtClean="0"/>
              <a:t>3/26/2026</a:t>
            </a:fld>
            <a:endParaRPr lang="en-US"/>
          </a:p>
        </p:txBody>
      </p:sp>
      <p:sp>
        <p:nvSpPr>
          <p:cNvPr id="8" name="Footer Placeholder 7">
            <a:extLst>
              <a:ext uri="{FF2B5EF4-FFF2-40B4-BE49-F238E27FC236}">
                <a16:creationId xmlns:a16="http://schemas.microsoft.com/office/drawing/2014/main" id="{95F81666-9085-A79A-68B2-FDA464FF5E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A00557-F8D9-EECB-4539-A04B06794F2A}"/>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2860299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97D3D-6964-54F5-D6CA-5420A3F84A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217CF3-9D43-A1F3-E772-7F0D59FC9DA2}"/>
              </a:ext>
            </a:extLst>
          </p:cNvPr>
          <p:cNvSpPr>
            <a:spLocks noGrp="1"/>
          </p:cNvSpPr>
          <p:nvPr>
            <p:ph type="dt" sz="half" idx="10"/>
          </p:nvPr>
        </p:nvSpPr>
        <p:spPr/>
        <p:txBody>
          <a:bodyPr/>
          <a:lstStyle/>
          <a:p>
            <a:fld id="{9F9DBBAC-FFE2-41CA-A25C-E977BC328EF5}" type="datetimeFigureOut">
              <a:rPr lang="en-US" smtClean="0"/>
              <a:t>3/26/2026</a:t>
            </a:fld>
            <a:endParaRPr lang="en-US"/>
          </a:p>
        </p:txBody>
      </p:sp>
      <p:sp>
        <p:nvSpPr>
          <p:cNvPr id="4" name="Footer Placeholder 3">
            <a:extLst>
              <a:ext uri="{FF2B5EF4-FFF2-40B4-BE49-F238E27FC236}">
                <a16:creationId xmlns:a16="http://schemas.microsoft.com/office/drawing/2014/main" id="{8C1D4DA4-9073-123A-02ED-375D47C960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AA39F0-51D2-92DD-F2AC-989C479B9277}"/>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815054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B39171-EC71-AC35-DCBE-DB73BFB6CF88}"/>
              </a:ext>
            </a:extLst>
          </p:cNvPr>
          <p:cNvSpPr>
            <a:spLocks noGrp="1"/>
          </p:cNvSpPr>
          <p:nvPr>
            <p:ph type="dt" sz="half" idx="10"/>
          </p:nvPr>
        </p:nvSpPr>
        <p:spPr/>
        <p:txBody>
          <a:bodyPr/>
          <a:lstStyle/>
          <a:p>
            <a:fld id="{9F9DBBAC-FFE2-41CA-A25C-E977BC328EF5}" type="datetimeFigureOut">
              <a:rPr lang="en-US" smtClean="0"/>
              <a:t>3/26/2026</a:t>
            </a:fld>
            <a:endParaRPr lang="en-US"/>
          </a:p>
        </p:txBody>
      </p:sp>
      <p:sp>
        <p:nvSpPr>
          <p:cNvPr id="3" name="Footer Placeholder 2">
            <a:extLst>
              <a:ext uri="{FF2B5EF4-FFF2-40B4-BE49-F238E27FC236}">
                <a16:creationId xmlns:a16="http://schemas.microsoft.com/office/drawing/2014/main" id="{CE9D1D3F-2672-86A5-53D0-1ED624BF721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60D16D-2B49-82C6-32F9-247E8480583A}"/>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2536469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4AAF4-7949-AC76-DD15-A79E968FBA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B5AF204-D9C8-1834-64A3-8CE0AEC5E2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687CF5-03E8-12F7-9DE3-9F79BEA91D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04A8AE-1F9C-9963-96D1-F91E7992A601}"/>
              </a:ext>
            </a:extLst>
          </p:cNvPr>
          <p:cNvSpPr>
            <a:spLocks noGrp="1"/>
          </p:cNvSpPr>
          <p:nvPr>
            <p:ph type="dt" sz="half" idx="10"/>
          </p:nvPr>
        </p:nvSpPr>
        <p:spPr/>
        <p:txBody>
          <a:bodyPr/>
          <a:lstStyle/>
          <a:p>
            <a:fld id="{9F9DBBAC-FFE2-41CA-A25C-E977BC328EF5}" type="datetimeFigureOut">
              <a:rPr lang="en-US" smtClean="0"/>
              <a:t>3/26/2026</a:t>
            </a:fld>
            <a:endParaRPr lang="en-US"/>
          </a:p>
        </p:txBody>
      </p:sp>
      <p:sp>
        <p:nvSpPr>
          <p:cNvPr id="6" name="Footer Placeholder 5">
            <a:extLst>
              <a:ext uri="{FF2B5EF4-FFF2-40B4-BE49-F238E27FC236}">
                <a16:creationId xmlns:a16="http://schemas.microsoft.com/office/drawing/2014/main" id="{A4B82192-B14B-6E73-08D3-EC29708CFF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D45F33-5697-84A1-BF9B-796A022A5146}"/>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2847805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011F-E1DF-4A6D-59EC-8C71E38024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6E1786-C280-2C81-5FFD-61BD97C847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8F205F-A897-5551-8268-65BE27926F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56B8C5-CDED-A774-30ED-688B7B766F22}"/>
              </a:ext>
            </a:extLst>
          </p:cNvPr>
          <p:cNvSpPr>
            <a:spLocks noGrp="1"/>
          </p:cNvSpPr>
          <p:nvPr>
            <p:ph type="dt" sz="half" idx="10"/>
          </p:nvPr>
        </p:nvSpPr>
        <p:spPr/>
        <p:txBody>
          <a:bodyPr/>
          <a:lstStyle/>
          <a:p>
            <a:fld id="{9F9DBBAC-FFE2-41CA-A25C-E977BC328EF5}" type="datetimeFigureOut">
              <a:rPr lang="en-US" smtClean="0"/>
              <a:t>3/26/2026</a:t>
            </a:fld>
            <a:endParaRPr lang="en-US"/>
          </a:p>
        </p:txBody>
      </p:sp>
      <p:sp>
        <p:nvSpPr>
          <p:cNvPr id="6" name="Footer Placeholder 5">
            <a:extLst>
              <a:ext uri="{FF2B5EF4-FFF2-40B4-BE49-F238E27FC236}">
                <a16:creationId xmlns:a16="http://schemas.microsoft.com/office/drawing/2014/main" id="{DDD76970-6AB5-77CC-01C0-510FFC17F5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6A5607-5E8B-89B0-E37C-E5BF43016A67}"/>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3362162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4AFF3-BAB5-2724-C8A9-61A9B080B3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49F319-2DB9-2188-E74F-BBD9DF0A06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41BB01-BFA6-BEC8-6584-E71C43EF6A63}"/>
              </a:ext>
            </a:extLst>
          </p:cNvPr>
          <p:cNvSpPr>
            <a:spLocks noGrp="1"/>
          </p:cNvSpPr>
          <p:nvPr>
            <p:ph type="dt" sz="half" idx="10"/>
          </p:nvPr>
        </p:nvSpPr>
        <p:spPr/>
        <p:txBody>
          <a:bodyPr/>
          <a:lstStyle/>
          <a:p>
            <a:fld id="{9F9DBBAC-FFE2-41CA-A25C-E977BC328EF5}" type="datetimeFigureOut">
              <a:rPr lang="en-US" smtClean="0"/>
              <a:t>3/26/2026</a:t>
            </a:fld>
            <a:endParaRPr lang="en-US"/>
          </a:p>
        </p:txBody>
      </p:sp>
      <p:sp>
        <p:nvSpPr>
          <p:cNvPr id="5" name="Footer Placeholder 4">
            <a:extLst>
              <a:ext uri="{FF2B5EF4-FFF2-40B4-BE49-F238E27FC236}">
                <a16:creationId xmlns:a16="http://schemas.microsoft.com/office/drawing/2014/main" id="{B12B541C-7E5A-672C-825C-B4B0588011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79F3A-6858-4141-7DE0-58A8CB005398}"/>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3477407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97A1E1-2023-7955-31CB-6B981C57846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76CF54-41FE-B5E8-5F32-E8EFA16102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63A51A-A221-2AA8-8268-72948B60EEFF}"/>
              </a:ext>
            </a:extLst>
          </p:cNvPr>
          <p:cNvSpPr>
            <a:spLocks noGrp="1"/>
          </p:cNvSpPr>
          <p:nvPr>
            <p:ph type="dt" sz="half" idx="10"/>
          </p:nvPr>
        </p:nvSpPr>
        <p:spPr/>
        <p:txBody>
          <a:bodyPr/>
          <a:lstStyle/>
          <a:p>
            <a:fld id="{9F9DBBAC-FFE2-41CA-A25C-E977BC328EF5}" type="datetimeFigureOut">
              <a:rPr lang="en-US" smtClean="0"/>
              <a:t>3/26/2026</a:t>
            </a:fld>
            <a:endParaRPr lang="en-US"/>
          </a:p>
        </p:txBody>
      </p:sp>
      <p:sp>
        <p:nvSpPr>
          <p:cNvPr id="5" name="Footer Placeholder 4">
            <a:extLst>
              <a:ext uri="{FF2B5EF4-FFF2-40B4-BE49-F238E27FC236}">
                <a16:creationId xmlns:a16="http://schemas.microsoft.com/office/drawing/2014/main" id="{9BA3038D-8E9E-6CC1-0782-F4EF2357DC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115D69-6E53-1991-A713-7094D4FF0BAC}"/>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1021722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29687-9EB6-8014-37F1-66297F815F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09E83E-AE44-EC68-3A66-7C615F3B5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5B059D-CBBB-FF34-CF3C-65D1F56F32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9DBBAC-FFE2-41CA-A25C-E977BC328EF5}" type="datetimeFigureOut">
              <a:rPr lang="en-US" smtClean="0"/>
              <a:t>3/26/2026</a:t>
            </a:fld>
            <a:endParaRPr lang="en-US"/>
          </a:p>
        </p:txBody>
      </p:sp>
      <p:sp>
        <p:nvSpPr>
          <p:cNvPr id="5" name="Footer Placeholder 4">
            <a:extLst>
              <a:ext uri="{FF2B5EF4-FFF2-40B4-BE49-F238E27FC236}">
                <a16:creationId xmlns:a16="http://schemas.microsoft.com/office/drawing/2014/main" id="{F543ED26-4F65-E0EE-7556-F0E1306285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56A6676-A307-BA57-FF99-5A8732B7CD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3BA7A8-28A2-41BF-BC14-896224614E79}" type="slidenum">
              <a:rPr lang="en-US" smtClean="0"/>
              <a:t>‹#›</a:t>
            </a:fld>
            <a:endParaRPr lang="en-US"/>
          </a:p>
        </p:txBody>
      </p:sp>
    </p:spTree>
    <p:extLst>
      <p:ext uri="{BB962C8B-B14F-4D97-AF65-F5344CB8AC3E}">
        <p14:creationId xmlns:p14="http://schemas.microsoft.com/office/powerpoint/2010/main" val="31655459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FEF1F71-C8D2-AD32-8423-EBF3E1956917}"/>
              </a:ext>
            </a:extLst>
          </p:cNvPr>
          <p:cNvSpPr>
            <a:spLocks noGrp="1"/>
          </p:cNvSpPr>
          <p:nvPr>
            <p:ph type="title" idx="4294967295"/>
          </p:nvPr>
        </p:nvSpPr>
        <p:spPr>
          <a:xfrm>
            <a:off x="838200" y="394942"/>
            <a:ext cx="10515600" cy="1325563"/>
          </a:xfrm>
        </p:spPr>
        <p:txBody>
          <a:bodyPr/>
          <a:lstStyle/>
          <a:p>
            <a:pPr algn="ctr"/>
            <a:r>
              <a:rPr lang="en-IN" b="1" u="sng" spc="50" dirty="0">
                <a:ln w="0">
                  <a:solidFill>
                    <a:srgbClr val="0070C0"/>
                  </a:solidFill>
                </a:ln>
                <a:solidFill>
                  <a:srgbClr val="0070C0"/>
                </a:solidFill>
                <a:effectLst>
                  <a:innerShdw blurRad="63500" dist="50800" dir="13500000">
                    <a:srgbClr val="000000">
                      <a:alpha val="50000"/>
                    </a:srgbClr>
                  </a:innerShdw>
                </a:effectLst>
              </a:rPr>
              <a:t>IT SUPPORT PERFORMANCE DASHBOARD</a:t>
            </a:r>
          </a:p>
        </p:txBody>
      </p:sp>
      <p:pic>
        <p:nvPicPr>
          <p:cNvPr id="12" name="Picture 11">
            <a:extLst>
              <a:ext uri="{FF2B5EF4-FFF2-40B4-BE49-F238E27FC236}">
                <a16:creationId xmlns:a16="http://schemas.microsoft.com/office/drawing/2014/main" id="{7820682A-7357-1BB7-BA0D-11EE93C81E4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993194" y="2028259"/>
            <a:ext cx="4058265" cy="3239481"/>
          </a:xfrm>
          <a:prstGeom prst="rect">
            <a:avLst/>
          </a:prstGeom>
        </p:spPr>
      </p:pic>
      <p:grpSp>
        <p:nvGrpSpPr>
          <p:cNvPr id="2" name="Group 1">
            <a:extLst>
              <a:ext uri="{FF2B5EF4-FFF2-40B4-BE49-F238E27FC236}">
                <a16:creationId xmlns:a16="http://schemas.microsoft.com/office/drawing/2014/main" id="{90D28BF6-9940-AF08-AF72-72185A773C39}"/>
              </a:ext>
            </a:extLst>
          </p:cNvPr>
          <p:cNvGrpSpPr/>
          <p:nvPr/>
        </p:nvGrpSpPr>
        <p:grpSpPr>
          <a:xfrm>
            <a:off x="775250" y="2727164"/>
            <a:ext cx="6097766" cy="1772037"/>
            <a:chOff x="627499" y="2312727"/>
            <a:chExt cx="6097766" cy="1772037"/>
          </a:xfrm>
        </p:grpSpPr>
        <p:sp>
          <p:nvSpPr>
            <p:cNvPr id="14" name="TextBox 13">
              <a:extLst>
                <a:ext uri="{FF2B5EF4-FFF2-40B4-BE49-F238E27FC236}">
                  <a16:creationId xmlns:a16="http://schemas.microsoft.com/office/drawing/2014/main" id="{63D48534-E912-A92E-2751-6E86D74B34AE}"/>
                </a:ext>
              </a:extLst>
            </p:cNvPr>
            <p:cNvSpPr txBox="1"/>
            <p:nvPr/>
          </p:nvSpPr>
          <p:spPr>
            <a:xfrm>
              <a:off x="629265" y="2312727"/>
              <a:ext cx="6096000" cy="954107"/>
            </a:xfrm>
            <a:prstGeom prst="rect">
              <a:avLst/>
            </a:prstGeom>
            <a:noFill/>
          </p:spPr>
          <p:txBody>
            <a:bodyPr wrap="square">
              <a:spAutoFit/>
            </a:bodyPr>
            <a:lstStyle/>
            <a:p>
              <a:pPr algn="ctr"/>
              <a:r>
                <a:rPr lang="en-US" sz="2800" b="1" dirty="0"/>
                <a:t>Data-Driven Analysis of IT Support Operations </a:t>
              </a:r>
              <a:r>
                <a:rPr lang="en-IN" sz="2800" b="1" dirty="0"/>
                <a:t>(97k+ Tickets)</a:t>
              </a:r>
            </a:p>
          </p:txBody>
        </p:sp>
        <p:sp>
          <p:nvSpPr>
            <p:cNvPr id="16" name="TextBox 15">
              <a:extLst>
                <a:ext uri="{FF2B5EF4-FFF2-40B4-BE49-F238E27FC236}">
                  <a16:creationId xmlns:a16="http://schemas.microsoft.com/office/drawing/2014/main" id="{5480AF97-06B1-EAF1-CB05-19350761706C}"/>
                </a:ext>
              </a:extLst>
            </p:cNvPr>
            <p:cNvSpPr txBox="1"/>
            <p:nvPr/>
          </p:nvSpPr>
          <p:spPr>
            <a:xfrm>
              <a:off x="627499" y="3684654"/>
              <a:ext cx="6096000" cy="400110"/>
            </a:xfrm>
            <a:prstGeom prst="rect">
              <a:avLst/>
            </a:prstGeom>
            <a:noFill/>
          </p:spPr>
          <p:txBody>
            <a:bodyPr wrap="square">
              <a:spAutoFit/>
            </a:bodyPr>
            <a:lstStyle/>
            <a:p>
              <a:pPr algn="ctr"/>
              <a:r>
                <a:rPr lang="en-US" sz="2000" b="1" dirty="0">
                  <a:solidFill>
                    <a:srgbClr val="FF0000"/>
                  </a:solidFill>
                </a:rPr>
                <a:t>Shivam Gupta | Newton School Project | March 2026</a:t>
              </a:r>
              <a:endParaRPr lang="en-US" sz="2000" b="1" dirty="0">
                <a:solidFill>
                  <a:srgbClr val="FF0000"/>
                </a:solidFill>
                <a:effectLst/>
              </a:endParaRPr>
            </a:p>
          </p:txBody>
        </p:sp>
      </p:grpSp>
    </p:spTree>
    <p:extLst>
      <p:ext uri="{BB962C8B-B14F-4D97-AF65-F5344CB8AC3E}">
        <p14:creationId xmlns:p14="http://schemas.microsoft.com/office/powerpoint/2010/main" val="3927542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97F32-A8CE-A444-8D70-D6DECEACB783}"/>
              </a:ext>
            </a:extLst>
          </p:cNvPr>
          <p:cNvSpPr>
            <a:spLocks noGrp="1"/>
          </p:cNvSpPr>
          <p:nvPr>
            <p:ph type="title"/>
          </p:nvPr>
        </p:nvSpPr>
        <p:spPr>
          <a:xfrm>
            <a:off x="838200" y="-397561"/>
            <a:ext cx="10515600" cy="1789471"/>
          </a:xfrm>
        </p:spPr>
        <p:txBody>
          <a:bodyPr>
            <a:normAutofit/>
          </a:bodyPr>
          <a:lstStyle/>
          <a:p>
            <a:pPr algn="ctr"/>
            <a:r>
              <a:rPr lang="en-US" b="1" u="sng" spc="50" dirty="0">
                <a:ln w="0">
                  <a:solidFill>
                    <a:srgbClr val="0070C0"/>
                  </a:solidFill>
                </a:ln>
                <a:solidFill>
                  <a:srgbClr val="0070C0"/>
                </a:solidFill>
                <a:effectLst>
                  <a:innerShdw blurRad="63500" dist="50800" dir="13500000">
                    <a:srgbClr val="000000">
                      <a:alpha val="50000"/>
                    </a:srgbClr>
                  </a:innerShdw>
                </a:effectLst>
              </a:rPr>
              <a:t>Problem Statement</a:t>
            </a:r>
            <a:endParaRPr lang="en-US" sz="1600" dirty="0"/>
          </a:p>
        </p:txBody>
      </p:sp>
      <p:pic>
        <p:nvPicPr>
          <p:cNvPr id="7" name="Picture 6">
            <a:extLst>
              <a:ext uri="{FF2B5EF4-FFF2-40B4-BE49-F238E27FC236}">
                <a16:creationId xmlns:a16="http://schemas.microsoft.com/office/drawing/2014/main" id="{9A69F69E-9CFE-903D-4564-F81B8A4AC416}"/>
              </a:ext>
            </a:extLst>
          </p:cNvPr>
          <p:cNvPicPr>
            <a:picLocks noChangeAspect="1"/>
          </p:cNvPicPr>
          <p:nvPr/>
        </p:nvPicPr>
        <p:blipFill>
          <a:blip r:embed="rId2"/>
          <a:stretch>
            <a:fillRect/>
          </a:stretch>
        </p:blipFill>
        <p:spPr>
          <a:xfrm>
            <a:off x="1413013" y="2719512"/>
            <a:ext cx="9346097" cy="3939780"/>
          </a:xfrm>
          <a:prstGeom prst="rect">
            <a:avLst/>
          </a:prstGeom>
        </p:spPr>
      </p:pic>
      <p:sp>
        <p:nvSpPr>
          <p:cNvPr id="3" name="TextBox 2">
            <a:extLst>
              <a:ext uri="{FF2B5EF4-FFF2-40B4-BE49-F238E27FC236}">
                <a16:creationId xmlns:a16="http://schemas.microsoft.com/office/drawing/2014/main" id="{25F0E311-96D3-6F6F-76F0-24623227730E}"/>
              </a:ext>
            </a:extLst>
          </p:cNvPr>
          <p:cNvSpPr txBox="1"/>
          <p:nvPr/>
        </p:nvSpPr>
        <p:spPr>
          <a:xfrm>
            <a:off x="616226" y="785193"/>
            <a:ext cx="10942983" cy="1938992"/>
          </a:xfrm>
          <a:prstGeom prst="rect">
            <a:avLst/>
          </a:prstGeom>
          <a:noFill/>
        </p:spPr>
        <p:txBody>
          <a:bodyPr wrap="square" rtlCol="0">
            <a:spAutoFit/>
          </a:bodyPr>
          <a:lstStyle/>
          <a:p>
            <a:r>
              <a:rPr lang="en-US" sz="2000" dirty="0"/>
              <a:t>The purpose of this analysis is to evaluate the IT support ticket management system in order to measure agent performance, resolution efficiency, and employee satisfaction levels. The study aims to identify top and underperforming </a:t>
            </a:r>
            <a:r>
              <a:rPr lang="en-US" sz="2000" b="1" dirty="0"/>
              <a:t>IT agents</a:t>
            </a:r>
            <a:r>
              <a:rPr lang="en-US" sz="2000" dirty="0"/>
              <a:t>, examine the overall effectiveness of the support team, and highlight areas where the ticket resolution process can be improved. Ultimately, the objective is to support data-driven staffing decisions—such as hiring, termination, and training—to improve service quality and enhance overall team performance.</a:t>
            </a:r>
            <a:endParaRPr lang="en-IN" sz="2000" dirty="0"/>
          </a:p>
        </p:txBody>
      </p:sp>
      <p:pic>
        <p:nvPicPr>
          <p:cNvPr id="4" name="Picture 3">
            <a:extLst>
              <a:ext uri="{FF2B5EF4-FFF2-40B4-BE49-F238E27FC236}">
                <a16:creationId xmlns:a16="http://schemas.microsoft.com/office/drawing/2014/main" id="{0F30E9F3-8AE4-5F96-5216-61ED594222E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021582" y="1"/>
            <a:ext cx="1170418" cy="934278"/>
          </a:xfrm>
          <a:prstGeom prst="rect">
            <a:avLst/>
          </a:prstGeom>
        </p:spPr>
      </p:pic>
    </p:spTree>
    <p:extLst>
      <p:ext uri="{BB962C8B-B14F-4D97-AF65-F5344CB8AC3E}">
        <p14:creationId xmlns:p14="http://schemas.microsoft.com/office/powerpoint/2010/main" val="3557636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32B1F-DBC0-94FD-7807-5C3BEC246A97}"/>
              </a:ext>
            </a:extLst>
          </p:cNvPr>
          <p:cNvSpPr>
            <a:spLocks noGrp="1"/>
          </p:cNvSpPr>
          <p:nvPr>
            <p:ph type="title"/>
          </p:nvPr>
        </p:nvSpPr>
        <p:spPr>
          <a:xfrm>
            <a:off x="838200" y="0"/>
            <a:ext cx="10515600" cy="1325563"/>
          </a:xfrm>
        </p:spPr>
        <p:txBody>
          <a:bodyPr/>
          <a:lstStyle/>
          <a:p>
            <a:pPr algn="ctr"/>
            <a:r>
              <a:rPr lang="en-IN" b="1" u="sng" spc="50" dirty="0">
                <a:ln w="0">
                  <a:solidFill>
                    <a:srgbClr val="0070C0"/>
                  </a:solidFill>
                </a:ln>
                <a:solidFill>
                  <a:srgbClr val="0070C0"/>
                </a:solidFill>
                <a:effectLst>
                  <a:innerShdw blurRad="63500" dist="50800" dir="13500000">
                    <a:srgbClr val="000000">
                      <a:alpha val="50000"/>
                    </a:srgbClr>
                  </a:innerShdw>
                </a:effectLst>
              </a:rPr>
              <a:t>Data overview</a:t>
            </a:r>
            <a:endParaRPr lang="en-US" b="1" u="sng" spc="50" dirty="0">
              <a:ln w="0">
                <a:solidFill>
                  <a:srgbClr val="0070C0"/>
                </a:solidFill>
              </a:ln>
              <a:solidFill>
                <a:srgbClr val="0070C0"/>
              </a:solidFill>
              <a:effectLst>
                <a:innerShdw blurRad="63500" dist="50800" dir="13500000">
                  <a:srgbClr val="000000">
                    <a:alpha val="50000"/>
                  </a:srgbClr>
                </a:innerShdw>
              </a:effectLst>
            </a:endParaRPr>
          </a:p>
        </p:txBody>
      </p:sp>
      <p:sp>
        <p:nvSpPr>
          <p:cNvPr id="3" name="Content Placeholder 2">
            <a:extLst>
              <a:ext uri="{FF2B5EF4-FFF2-40B4-BE49-F238E27FC236}">
                <a16:creationId xmlns:a16="http://schemas.microsoft.com/office/drawing/2014/main" id="{2AFA6538-114B-893A-5FC3-CB7271D543B4}"/>
              </a:ext>
            </a:extLst>
          </p:cNvPr>
          <p:cNvSpPr>
            <a:spLocks noGrp="1"/>
          </p:cNvSpPr>
          <p:nvPr>
            <p:ph idx="1"/>
          </p:nvPr>
        </p:nvSpPr>
        <p:spPr>
          <a:xfrm>
            <a:off x="838200" y="1431237"/>
            <a:ext cx="10515600" cy="3796747"/>
          </a:xfrm>
        </p:spPr>
        <p:txBody>
          <a:bodyPr>
            <a:noAutofit/>
          </a:bodyPr>
          <a:lstStyle/>
          <a:p>
            <a:r>
              <a:rPr lang="en-US" sz="2000" dirty="0"/>
              <a:t>This analysis is conducted using a dataset of </a:t>
            </a:r>
            <a:r>
              <a:rPr lang="en-US" sz="2000" b="1" u="sng" dirty="0">
                <a:solidFill>
                  <a:schemeClr val="accent1">
                    <a:lumMod val="75000"/>
                  </a:schemeClr>
                </a:solidFill>
              </a:rPr>
              <a:t>97,498 IT support tickets</a:t>
            </a:r>
            <a:r>
              <a:rPr lang="en-US" sz="2000" dirty="0"/>
              <a:t> obtained from an internal service management system to assess help desk performance and uncover important patterns and trends.</a:t>
            </a:r>
          </a:p>
          <a:p>
            <a:r>
              <a:rPr lang="en-US" sz="2000" dirty="0"/>
              <a:t>The dataset is organized into two primary files: a </a:t>
            </a:r>
            <a:r>
              <a:rPr lang="en-US" sz="2000" b="1" dirty="0"/>
              <a:t>Tickets Sheet</a:t>
            </a:r>
            <a:r>
              <a:rPr lang="en-US" sz="2000" dirty="0"/>
              <a:t>, which contains detailed records of all support requests, and an </a:t>
            </a:r>
            <a:r>
              <a:rPr lang="en-US" sz="2000" b="1" dirty="0"/>
              <a:t>IT Agents Sheet</a:t>
            </a:r>
            <a:r>
              <a:rPr lang="en-US" sz="2000" dirty="0"/>
              <a:t>, which provides information about the support staff.</a:t>
            </a:r>
          </a:p>
          <a:p>
            <a:r>
              <a:rPr lang="en-US" sz="2000" dirty="0"/>
              <a:t>Key performance indicators (KPIs) include </a:t>
            </a:r>
            <a:r>
              <a:rPr lang="en-US" sz="2000" b="1" dirty="0"/>
              <a:t>Resolution Time</a:t>
            </a:r>
            <a:r>
              <a:rPr lang="en-US" sz="2000" dirty="0"/>
              <a:t>, with an average of </a:t>
            </a:r>
            <a:r>
              <a:rPr lang="en-US" sz="2000" b="1" u="sng" dirty="0">
                <a:solidFill>
                  <a:schemeClr val="accent1">
                    <a:lumMod val="75000"/>
                  </a:schemeClr>
                </a:solidFill>
              </a:rPr>
              <a:t>4.55 days</a:t>
            </a:r>
            <a:r>
              <a:rPr lang="en-US" sz="2000" dirty="0"/>
              <a:t>, and </a:t>
            </a:r>
            <a:r>
              <a:rPr lang="en-US" sz="2000" b="1" dirty="0"/>
              <a:t>Employee Satisfaction</a:t>
            </a:r>
            <a:r>
              <a:rPr lang="en-US" sz="2000" dirty="0"/>
              <a:t>, measured on a scale from </a:t>
            </a:r>
            <a:r>
              <a:rPr lang="en-US" sz="2000" b="1" u="sng" dirty="0">
                <a:solidFill>
                  <a:schemeClr val="accent1">
                    <a:lumMod val="75000"/>
                  </a:schemeClr>
                </a:solidFill>
              </a:rPr>
              <a:t>4.10/5</a:t>
            </a:r>
            <a:r>
              <a:rPr lang="en-US" sz="2000" dirty="0"/>
              <a:t>.</a:t>
            </a:r>
          </a:p>
          <a:p>
            <a:r>
              <a:rPr lang="en-US" sz="2000" dirty="0"/>
              <a:t>The help desk handles a steady volume of work, receiving approximately </a:t>
            </a:r>
            <a:r>
              <a:rPr lang="en-US" sz="2000" b="1" u="sng" dirty="0">
                <a:solidFill>
                  <a:schemeClr val="accent1">
                    <a:lumMod val="75000"/>
                  </a:schemeClr>
                </a:solidFill>
              </a:rPr>
              <a:t>53 new tickets per day</a:t>
            </a:r>
            <a:r>
              <a:rPr lang="en-US" sz="2000" dirty="0"/>
              <a:t> on </a:t>
            </a:r>
            <a:r>
              <a:rPr lang="en-US" sz="2000" b="1" dirty="0"/>
              <a:t>average</a:t>
            </a:r>
            <a:r>
              <a:rPr lang="en-US" sz="2000" dirty="0"/>
              <a:t>.</a:t>
            </a:r>
          </a:p>
          <a:p>
            <a:r>
              <a:rPr lang="en-US" sz="2000" dirty="0"/>
              <a:t>Each ticket is classified by </a:t>
            </a:r>
            <a:r>
              <a:rPr lang="en-US" sz="2000" b="1" dirty="0"/>
              <a:t>Request Category</a:t>
            </a:r>
            <a:r>
              <a:rPr lang="en-US" sz="2000" dirty="0"/>
              <a:t> (such as Login Access or System), along with </a:t>
            </a:r>
            <a:r>
              <a:rPr lang="en-US" sz="2000" b="1" dirty="0"/>
              <a:t>Issue Type, Severity, and Priority</a:t>
            </a:r>
            <a:r>
              <a:rPr lang="en-US" sz="2000" dirty="0"/>
              <a:t>, enabling a comprehensive analysis of support requirements.</a:t>
            </a:r>
          </a:p>
          <a:p>
            <a:r>
              <a:rPr lang="en-US" sz="2000" dirty="0"/>
              <a:t>By connecting the ticket records with agent information through the </a:t>
            </a:r>
            <a:r>
              <a:rPr lang="en-US" sz="2000" b="1" dirty="0"/>
              <a:t>Agent ID</a:t>
            </a:r>
            <a:r>
              <a:rPr lang="en-US" sz="2000" dirty="0"/>
              <a:t>, it becomes possible to evaluate performance metrics at the individual agent level, as well as analyze trends based on agent demographics.</a:t>
            </a:r>
          </a:p>
        </p:txBody>
      </p:sp>
      <p:pic>
        <p:nvPicPr>
          <p:cNvPr id="4" name="Picture 3">
            <a:extLst>
              <a:ext uri="{FF2B5EF4-FFF2-40B4-BE49-F238E27FC236}">
                <a16:creationId xmlns:a16="http://schemas.microsoft.com/office/drawing/2014/main" id="{3708D83E-D461-AC71-038B-D33200B695C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021582" y="1"/>
            <a:ext cx="1170418" cy="934278"/>
          </a:xfrm>
          <a:prstGeom prst="rect">
            <a:avLst/>
          </a:prstGeom>
        </p:spPr>
      </p:pic>
    </p:spTree>
    <p:extLst>
      <p:ext uri="{BB962C8B-B14F-4D97-AF65-F5344CB8AC3E}">
        <p14:creationId xmlns:p14="http://schemas.microsoft.com/office/powerpoint/2010/main" val="4287168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BDCAE-FA49-04D3-2A81-A503A3D96EBF}"/>
              </a:ext>
            </a:extLst>
          </p:cNvPr>
          <p:cNvSpPr>
            <a:spLocks noGrp="1"/>
          </p:cNvSpPr>
          <p:nvPr>
            <p:ph type="title"/>
          </p:nvPr>
        </p:nvSpPr>
        <p:spPr>
          <a:xfrm>
            <a:off x="839788" y="0"/>
            <a:ext cx="10512424" cy="1600200"/>
          </a:xfrm>
        </p:spPr>
        <p:txBody>
          <a:bodyPr>
            <a:normAutofit/>
          </a:bodyPr>
          <a:lstStyle/>
          <a:p>
            <a:pPr algn="ctr"/>
            <a:r>
              <a:rPr lang="en-IN" sz="4400" b="1" u="sng" spc="50" dirty="0">
                <a:ln w="0">
                  <a:solidFill>
                    <a:srgbClr val="0070C0"/>
                  </a:solidFill>
                </a:ln>
                <a:solidFill>
                  <a:srgbClr val="0070C0"/>
                </a:solidFill>
                <a:effectLst>
                  <a:innerShdw blurRad="63500" dist="50800" dir="13500000">
                    <a:srgbClr val="000000">
                      <a:alpha val="50000"/>
                    </a:srgbClr>
                  </a:innerShdw>
                </a:effectLst>
              </a:rPr>
              <a:t>Ticket Volume Trend</a:t>
            </a:r>
            <a:br>
              <a:rPr lang="en-IN" sz="4400" b="1" u="sng" spc="50" dirty="0">
                <a:ln w="0">
                  <a:solidFill>
                    <a:srgbClr val="0070C0"/>
                  </a:solidFill>
                </a:ln>
                <a:solidFill>
                  <a:srgbClr val="0070C0"/>
                </a:solidFill>
                <a:effectLst>
                  <a:innerShdw blurRad="63500" dist="50800" dir="13500000">
                    <a:srgbClr val="000000">
                      <a:alpha val="50000"/>
                    </a:srgbClr>
                  </a:innerShdw>
                </a:effectLst>
              </a:rPr>
            </a:br>
            <a:endParaRPr lang="en-IN" sz="4400" b="1" u="sng" spc="50" dirty="0">
              <a:ln w="0">
                <a:solidFill>
                  <a:srgbClr val="0070C0"/>
                </a:solidFill>
              </a:ln>
              <a:solidFill>
                <a:srgbClr val="0070C0"/>
              </a:solidFill>
              <a:effectLst>
                <a:innerShdw blurRad="63500" dist="50800" dir="13500000">
                  <a:srgbClr val="000000">
                    <a:alpha val="50000"/>
                  </a:srgbClr>
                </a:innerShdw>
              </a:effectLst>
            </a:endParaRPr>
          </a:p>
        </p:txBody>
      </p:sp>
      <p:pic>
        <p:nvPicPr>
          <p:cNvPr id="11" name="Content Placeholder 10">
            <a:extLst>
              <a:ext uri="{FF2B5EF4-FFF2-40B4-BE49-F238E27FC236}">
                <a16:creationId xmlns:a16="http://schemas.microsoft.com/office/drawing/2014/main" id="{91CAD032-3F29-F4F5-8B2C-49F7B4AC011C}"/>
              </a:ext>
            </a:extLst>
          </p:cNvPr>
          <p:cNvPicPr>
            <a:picLocks noGrp="1" noChangeAspect="1"/>
          </p:cNvPicPr>
          <p:nvPr>
            <p:ph idx="1"/>
          </p:nvPr>
        </p:nvPicPr>
        <p:blipFill>
          <a:blip r:embed="rId2"/>
          <a:stretch>
            <a:fillRect/>
          </a:stretch>
        </p:blipFill>
        <p:spPr>
          <a:xfrm>
            <a:off x="5232212" y="1755445"/>
            <a:ext cx="6120000" cy="3347111"/>
          </a:xfrm>
          <a:prstGeom prst="rect">
            <a:avLst/>
          </a:prstGeom>
        </p:spPr>
      </p:pic>
      <p:sp>
        <p:nvSpPr>
          <p:cNvPr id="5" name="Rectangle 1">
            <a:extLst>
              <a:ext uri="{FF2B5EF4-FFF2-40B4-BE49-F238E27FC236}">
                <a16:creationId xmlns:a16="http://schemas.microsoft.com/office/drawing/2014/main" id="{29A0ABC1-F2BC-85D7-CAC9-99F2611ECFAE}"/>
              </a:ext>
            </a:extLst>
          </p:cNvPr>
          <p:cNvSpPr>
            <a:spLocks noGrp="1" noChangeArrowheads="1"/>
          </p:cNvSpPr>
          <p:nvPr>
            <p:ph type="body" sz="half" idx="2"/>
          </p:nvPr>
        </p:nvSpPr>
        <p:spPr bwMode="auto">
          <a:xfrm>
            <a:off x="839788" y="1674675"/>
            <a:ext cx="4199351" cy="3508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IN" sz="2200" b="1" dirty="0">
                <a:solidFill>
                  <a:srgbClr val="FF0000"/>
                </a:solidFill>
              </a:rPr>
              <a:t>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Ticket volume increased from </a:t>
            </a:r>
            <a:r>
              <a:rPr kumimoji="0" lang="en-US" altLang="en-US" sz="2200" b="1" i="0" u="none" strike="noStrike" cap="none" normalizeH="0" baseline="0" dirty="0">
                <a:ln>
                  <a:noFill/>
                </a:ln>
                <a:solidFill>
                  <a:schemeClr val="tx1"/>
                </a:solidFill>
                <a:effectLst/>
              </a:rPr>
              <a:t>13,051</a:t>
            </a:r>
            <a:r>
              <a:rPr kumimoji="0" lang="en-US" altLang="en-US" sz="2200" b="0" i="0" u="none" strike="noStrike" cap="none" normalizeH="0" baseline="0" dirty="0">
                <a:ln>
                  <a:noFill/>
                </a:ln>
                <a:solidFill>
                  <a:schemeClr val="tx1"/>
                </a:solidFill>
                <a:effectLst/>
              </a:rPr>
              <a:t> in </a:t>
            </a:r>
            <a:r>
              <a:rPr kumimoji="0" lang="en-US" altLang="en-US" sz="2200" b="1" i="0" u="none" strike="noStrike" cap="none" normalizeH="0" baseline="0" dirty="0">
                <a:ln>
                  <a:noFill/>
                </a:ln>
                <a:solidFill>
                  <a:schemeClr val="tx1"/>
                </a:solidFill>
                <a:effectLst/>
              </a:rPr>
              <a:t>2016</a:t>
            </a:r>
            <a:r>
              <a:rPr kumimoji="0" lang="en-US" altLang="en-US" sz="2200" b="0" i="0" u="none" strike="noStrike" cap="none" normalizeH="0" baseline="0" dirty="0">
                <a:ln>
                  <a:noFill/>
                </a:ln>
                <a:solidFill>
                  <a:schemeClr val="tx1"/>
                </a:solidFill>
                <a:effectLst/>
              </a:rPr>
              <a:t> to </a:t>
            </a:r>
            <a:r>
              <a:rPr kumimoji="0" lang="en-US" altLang="en-US" sz="2200" b="1" i="0" u="none" strike="noStrike" cap="none" normalizeH="0" baseline="0" dirty="0">
                <a:ln>
                  <a:noFill/>
                </a:ln>
                <a:solidFill>
                  <a:schemeClr val="tx1"/>
                </a:solidFill>
                <a:effectLst/>
              </a:rPr>
              <a:t>29,088 </a:t>
            </a:r>
            <a:r>
              <a:rPr kumimoji="0" lang="en-US" altLang="en-US" sz="2200" b="0" i="0" u="none" strike="noStrike" cap="none" normalizeH="0" baseline="0" dirty="0">
                <a:ln>
                  <a:noFill/>
                </a:ln>
                <a:solidFill>
                  <a:schemeClr val="tx1"/>
                </a:solidFill>
                <a:effectLst/>
              </a:rPr>
              <a:t>in </a:t>
            </a:r>
            <a:r>
              <a:rPr kumimoji="0" lang="en-US" altLang="en-US" sz="2200" b="1" i="0" u="none" strike="noStrike" cap="none" normalizeH="0" baseline="0" dirty="0">
                <a:ln>
                  <a:noFill/>
                </a:ln>
                <a:solidFill>
                  <a:schemeClr val="tx1"/>
                </a:solidFill>
                <a:effectLst/>
              </a:rPr>
              <a:t>2020 </a:t>
            </a:r>
            <a:br>
              <a:rPr kumimoji="0" lang="en-US" altLang="en-US" sz="2200" b="0" i="0" u="none" strike="noStrike" cap="none" normalizeH="0" baseline="0" dirty="0">
                <a:ln>
                  <a:noFill/>
                </a:ln>
                <a:solidFill>
                  <a:schemeClr val="tx1"/>
                </a:solidFill>
                <a:effectLst/>
              </a:rPr>
            </a:br>
            <a:endParaRPr kumimoji="0" lang="en-US" altLang="en-US" sz="2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This represents a </a:t>
            </a:r>
            <a:r>
              <a:rPr kumimoji="0" lang="en-US" altLang="en-US" sz="2200" b="1" i="0" u="none" strike="noStrike" cap="none" normalizeH="0" baseline="0" dirty="0">
                <a:ln>
                  <a:noFill/>
                </a:ln>
                <a:solidFill>
                  <a:schemeClr val="tx1"/>
                </a:solidFill>
                <a:effectLst/>
              </a:rPr>
              <a:t>123%</a:t>
            </a:r>
            <a:r>
              <a:rPr kumimoji="0" lang="en-US" altLang="en-US" sz="2200" b="0" i="0" u="none" strike="noStrike" cap="none" normalizeH="0" baseline="0" dirty="0">
                <a:ln>
                  <a:noFill/>
                </a:ln>
                <a:solidFill>
                  <a:schemeClr val="tx1"/>
                </a:solidFill>
                <a:effectLst/>
              </a:rPr>
              <a:t> growth over five years </a:t>
            </a:r>
            <a:br>
              <a:rPr kumimoji="0" lang="en-US" altLang="en-US" sz="2200" b="0" i="0" u="none" strike="noStrike" cap="none" normalizeH="0" baseline="0" dirty="0">
                <a:ln>
                  <a:noFill/>
                </a:ln>
                <a:solidFill>
                  <a:schemeClr val="tx1"/>
                </a:solidFill>
                <a:effectLst/>
              </a:rPr>
            </a:br>
            <a:endParaRPr kumimoji="0" lang="en-US" altLang="en-US" sz="2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Sharpest rise observed between </a:t>
            </a:r>
            <a:r>
              <a:rPr kumimoji="0" lang="en-US" altLang="en-US" sz="2200" b="1" i="0" u="none" strike="noStrike" cap="none" normalizeH="0" baseline="0" dirty="0">
                <a:ln>
                  <a:noFill/>
                </a:ln>
                <a:solidFill>
                  <a:schemeClr val="tx1"/>
                </a:solidFill>
                <a:effectLst/>
              </a:rPr>
              <a:t>2019</a:t>
            </a:r>
            <a:r>
              <a:rPr kumimoji="0" lang="en-US" altLang="en-US" sz="2200" b="0" i="0" u="none" strike="noStrike" cap="none" normalizeH="0" baseline="0" dirty="0">
                <a:ln>
                  <a:noFill/>
                </a:ln>
                <a:solidFill>
                  <a:schemeClr val="tx1"/>
                </a:solidFill>
                <a:effectLst/>
              </a:rPr>
              <a:t> and </a:t>
            </a:r>
            <a:r>
              <a:rPr kumimoji="0" lang="en-US" altLang="en-US" sz="2200" b="1" i="0" u="none" strike="noStrike" cap="none" normalizeH="0" baseline="0" dirty="0">
                <a:ln>
                  <a:noFill/>
                </a:ln>
                <a:solidFill>
                  <a:schemeClr val="tx1"/>
                </a:solidFill>
                <a:effectLst/>
              </a:rPr>
              <a:t>2020</a:t>
            </a:r>
            <a:r>
              <a:rPr kumimoji="0" lang="en-US" altLang="en-US" sz="2200" b="0" i="0" u="none" strike="noStrike" cap="none" normalizeH="0" baseline="0" dirty="0">
                <a:ln>
                  <a:noFill/>
                </a:ln>
                <a:solidFill>
                  <a:schemeClr val="tx1"/>
                </a:solidFill>
                <a:effectLst/>
              </a:rPr>
              <a:t> </a:t>
            </a:r>
          </a:p>
        </p:txBody>
      </p:sp>
      <p:pic>
        <p:nvPicPr>
          <p:cNvPr id="12" name="Picture 11">
            <a:extLst>
              <a:ext uri="{FF2B5EF4-FFF2-40B4-BE49-F238E27FC236}">
                <a16:creationId xmlns:a16="http://schemas.microsoft.com/office/drawing/2014/main" id="{1B593E61-3AC1-E30D-8977-4E94B261E43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021582" y="1"/>
            <a:ext cx="1170418" cy="934278"/>
          </a:xfrm>
          <a:prstGeom prst="rect">
            <a:avLst/>
          </a:prstGeom>
        </p:spPr>
      </p:pic>
    </p:spTree>
    <p:extLst>
      <p:ext uri="{BB962C8B-B14F-4D97-AF65-F5344CB8AC3E}">
        <p14:creationId xmlns:p14="http://schemas.microsoft.com/office/powerpoint/2010/main" val="3863733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188B9-5B05-73F3-8B03-3A1CA24E6A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EDB039-BC7E-F962-846F-3A6C60C24DC0}"/>
              </a:ext>
            </a:extLst>
          </p:cNvPr>
          <p:cNvSpPr>
            <a:spLocks noGrp="1"/>
          </p:cNvSpPr>
          <p:nvPr>
            <p:ph type="title"/>
          </p:nvPr>
        </p:nvSpPr>
        <p:spPr>
          <a:xfrm>
            <a:off x="839788" y="0"/>
            <a:ext cx="10512424" cy="1600200"/>
          </a:xfrm>
        </p:spPr>
        <p:txBody>
          <a:bodyPr>
            <a:normAutofit/>
          </a:bodyPr>
          <a:lstStyle/>
          <a:p>
            <a:pPr algn="ctr"/>
            <a:r>
              <a:rPr lang="en-IN" sz="4400" b="1" u="sng" spc="50" dirty="0">
                <a:ln w="0">
                  <a:solidFill>
                    <a:srgbClr val="0070C0"/>
                  </a:solidFill>
                </a:ln>
                <a:solidFill>
                  <a:srgbClr val="0070C0"/>
                </a:solidFill>
                <a:effectLst>
                  <a:innerShdw blurRad="63500" dist="50800" dir="13500000">
                    <a:srgbClr val="000000">
                      <a:alpha val="50000"/>
                    </a:srgbClr>
                  </a:innerShdw>
                </a:effectLst>
              </a:rPr>
              <a:t>Satisfaction Rate Trend</a:t>
            </a:r>
            <a:br>
              <a:rPr lang="en-IN" sz="4400" b="1" u="sng" spc="50" dirty="0">
                <a:ln w="0">
                  <a:solidFill>
                    <a:srgbClr val="0070C0"/>
                  </a:solidFill>
                </a:ln>
                <a:solidFill>
                  <a:srgbClr val="0070C0"/>
                </a:solidFill>
                <a:effectLst>
                  <a:innerShdw blurRad="63500" dist="50800" dir="13500000">
                    <a:srgbClr val="000000">
                      <a:alpha val="50000"/>
                    </a:srgbClr>
                  </a:innerShdw>
                </a:effectLst>
              </a:rPr>
            </a:br>
            <a:endParaRPr lang="en-IN" sz="4400" b="1" u="sng" spc="50" dirty="0">
              <a:ln w="0">
                <a:solidFill>
                  <a:srgbClr val="0070C0"/>
                </a:solidFill>
              </a:ln>
              <a:solidFill>
                <a:srgbClr val="0070C0"/>
              </a:solidFill>
              <a:effectLst>
                <a:innerShdw blurRad="63500" dist="50800" dir="13500000">
                  <a:srgbClr val="000000">
                    <a:alpha val="50000"/>
                  </a:srgbClr>
                </a:innerShdw>
              </a:effectLst>
            </a:endParaRPr>
          </a:p>
        </p:txBody>
      </p:sp>
      <p:pic>
        <p:nvPicPr>
          <p:cNvPr id="11" name="Content Placeholder 10">
            <a:extLst>
              <a:ext uri="{FF2B5EF4-FFF2-40B4-BE49-F238E27FC236}">
                <a16:creationId xmlns:a16="http://schemas.microsoft.com/office/drawing/2014/main" id="{1C7B6DB5-6A2C-2B22-2118-DE2711742FC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5232212" y="1755445"/>
            <a:ext cx="6120000" cy="3347111"/>
          </a:xfrm>
          <a:prstGeom prst="rect">
            <a:avLst/>
          </a:prstGeom>
        </p:spPr>
      </p:pic>
      <p:sp>
        <p:nvSpPr>
          <p:cNvPr id="4" name="Rectangle 2">
            <a:extLst>
              <a:ext uri="{FF2B5EF4-FFF2-40B4-BE49-F238E27FC236}">
                <a16:creationId xmlns:a16="http://schemas.microsoft.com/office/drawing/2014/main" id="{DCCE5FD9-EF97-36AA-CE68-9939CDCBF08C}"/>
              </a:ext>
            </a:extLst>
          </p:cNvPr>
          <p:cNvSpPr>
            <a:spLocks noGrp="1" noChangeArrowheads="1"/>
          </p:cNvSpPr>
          <p:nvPr>
            <p:ph type="body" sz="half" idx="2"/>
          </p:nvPr>
        </p:nvSpPr>
        <p:spPr bwMode="auto">
          <a:xfrm>
            <a:off x="839788" y="1674675"/>
            <a:ext cx="4239108" cy="3508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IN" sz="2200" b="1" dirty="0">
                <a:solidFill>
                  <a:srgbClr val="FF0000"/>
                </a:solidFill>
              </a:rPr>
              <a:t>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FontTx/>
              <a:buChar char="•"/>
            </a:pPr>
            <a:r>
              <a:rPr lang="en-US" altLang="en-US" sz="2200" dirty="0"/>
              <a:t>Customer satisfaction improved from </a:t>
            </a:r>
            <a:r>
              <a:rPr lang="en-US" altLang="en-US" sz="2200" b="1" dirty="0"/>
              <a:t>4.0</a:t>
            </a:r>
            <a:r>
              <a:rPr lang="en-US" altLang="en-US" sz="2200" dirty="0"/>
              <a:t> in </a:t>
            </a:r>
            <a:r>
              <a:rPr lang="en-US" altLang="en-US" sz="2200" b="1" dirty="0"/>
              <a:t>2016</a:t>
            </a:r>
            <a:r>
              <a:rPr lang="en-US" altLang="en-US" sz="2200" dirty="0"/>
              <a:t> to </a:t>
            </a:r>
            <a:r>
              <a:rPr lang="en-US" altLang="en-US" sz="2200" b="1" dirty="0"/>
              <a:t>4.2</a:t>
            </a:r>
            <a:r>
              <a:rPr lang="en-US" altLang="en-US" sz="2200" dirty="0"/>
              <a:t> in </a:t>
            </a:r>
            <a:r>
              <a:rPr lang="en-US" altLang="en-US" sz="2200" b="1" dirty="0"/>
              <a:t>2020 </a:t>
            </a:r>
            <a:br>
              <a:rPr lang="en-US" altLang="en-US" sz="2200" dirty="0"/>
            </a:br>
            <a:endParaRPr lang="en-US" altLang="en-US" sz="2200" dirty="0"/>
          </a:p>
          <a:p>
            <a:pPr eaLnBrk="0" fontAlgn="base" hangingPunct="0">
              <a:lnSpc>
                <a:spcPct val="100000"/>
              </a:lnSpc>
              <a:spcBef>
                <a:spcPct val="0"/>
              </a:spcBef>
              <a:spcAft>
                <a:spcPct val="0"/>
              </a:spcAft>
              <a:buFontTx/>
              <a:buChar char="•"/>
            </a:pPr>
            <a:r>
              <a:rPr lang="en-US" altLang="en-US" sz="2200" dirty="0"/>
              <a:t>Improvement remained steady despite rising ticket volume </a:t>
            </a:r>
            <a:br>
              <a:rPr lang="en-US" altLang="en-US" sz="2200" dirty="0"/>
            </a:br>
            <a:endParaRPr lang="en-US" altLang="en-US" sz="2200" dirty="0"/>
          </a:p>
          <a:p>
            <a:pPr eaLnBrk="0" fontAlgn="base" hangingPunct="0">
              <a:lnSpc>
                <a:spcPct val="100000"/>
              </a:lnSpc>
              <a:spcBef>
                <a:spcPct val="0"/>
              </a:spcBef>
              <a:spcAft>
                <a:spcPct val="0"/>
              </a:spcAft>
              <a:buFontTx/>
              <a:buChar char="•"/>
            </a:pPr>
            <a:r>
              <a:rPr lang="en-US" altLang="en-US" sz="2200" dirty="0"/>
              <a:t>Shows consistent service quality under increasing workload </a:t>
            </a:r>
          </a:p>
        </p:txBody>
      </p:sp>
      <p:pic>
        <p:nvPicPr>
          <p:cNvPr id="6" name="Picture 5">
            <a:extLst>
              <a:ext uri="{FF2B5EF4-FFF2-40B4-BE49-F238E27FC236}">
                <a16:creationId xmlns:a16="http://schemas.microsoft.com/office/drawing/2014/main" id="{ED3198F7-946D-54AD-23C2-2EE0D4308B4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021582" y="1"/>
            <a:ext cx="1170418" cy="934278"/>
          </a:xfrm>
          <a:prstGeom prst="rect">
            <a:avLst/>
          </a:prstGeom>
        </p:spPr>
      </p:pic>
    </p:spTree>
    <p:extLst>
      <p:ext uri="{BB962C8B-B14F-4D97-AF65-F5344CB8AC3E}">
        <p14:creationId xmlns:p14="http://schemas.microsoft.com/office/powerpoint/2010/main" val="507873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D6367-E8DC-AA72-7EE4-231A2CA7C9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1D70B9-2583-0170-C3FA-AFF7B2CB1013}"/>
              </a:ext>
            </a:extLst>
          </p:cNvPr>
          <p:cNvSpPr>
            <a:spLocks noGrp="1"/>
          </p:cNvSpPr>
          <p:nvPr>
            <p:ph type="title"/>
          </p:nvPr>
        </p:nvSpPr>
        <p:spPr>
          <a:xfrm>
            <a:off x="839788" y="0"/>
            <a:ext cx="10512424" cy="1600200"/>
          </a:xfrm>
        </p:spPr>
        <p:txBody>
          <a:bodyPr>
            <a:normAutofit/>
          </a:bodyPr>
          <a:lstStyle/>
          <a:p>
            <a:pPr algn="ctr"/>
            <a:r>
              <a:rPr lang="en-IN" sz="4400" b="1" u="sng" spc="50" dirty="0">
                <a:ln w="0">
                  <a:solidFill>
                    <a:srgbClr val="0070C0"/>
                  </a:solidFill>
                </a:ln>
                <a:solidFill>
                  <a:srgbClr val="0070C0"/>
                </a:solidFill>
                <a:effectLst>
                  <a:innerShdw blurRad="63500" dist="50800" dir="13500000">
                    <a:srgbClr val="000000">
                      <a:alpha val="50000"/>
                    </a:srgbClr>
                  </a:innerShdw>
                </a:effectLst>
              </a:rPr>
              <a:t>Ticket Distribution by Category</a:t>
            </a:r>
            <a:br>
              <a:rPr lang="en-IN" sz="4400" b="1" u="sng" spc="50" dirty="0">
                <a:ln w="0">
                  <a:solidFill>
                    <a:srgbClr val="0070C0"/>
                  </a:solidFill>
                </a:ln>
                <a:solidFill>
                  <a:srgbClr val="0070C0"/>
                </a:solidFill>
                <a:effectLst>
                  <a:innerShdw blurRad="63500" dist="50800" dir="13500000">
                    <a:srgbClr val="000000">
                      <a:alpha val="50000"/>
                    </a:srgbClr>
                  </a:innerShdw>
                </a:effectLst>
              </a:rPr>
            </a:br>
            <a:endParaRPr lang="en-IN" sz="4400" b="1" u="sng" spc="50" dirty="0">
              <a:ln w="0">
                <a:solidFill>
                  <a:srgbClr val="0070C0"/>
                </a:solidFill>
              </a:ln>
              <a:solidFill>
                <a:srgbClr val="0070C0"/>
              </a:solidFill>
              <a:effectLst>
                <a:innerShdw blurRad="63500" dist="50800" dir="13500000">
                  <a:srgbClr val="000000">
                    <a:alpha val="50000"/>
                  </a:srgbClr>
                </a:innerShdw>
              </a:effectLst>
            </a:endParaRPr>
          </a:p>
        </p:txBody>
      </p:sp>
      <p:pic>
        <p:nvPicPr>
          <p:cNvPr id="11" name="Content Placeholder 10">
            <a:extLst>
              <a:ext uri="{FF2B5EF4-FFF2-40B4-BE49-F238E27FC236}">
                <a16:creationId xmlns:a16="http://schemas.microsoft.com/office/drawing/2014/main" id="{31D984AF-EC25-56AD-3BDA-F74F840B182D}"/>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rcRect/>
          <a:stretch/>
        </p:blipFill>
        <p:spPr>
          <a:xfrm>
            <a:off x="6037277" y="1690063"/>
            <a:ext cx="4011179" cy="3806276"/>
          </a:xfrm>
          <a:prstGeom prst="rect">
            <a:avLst/>
          </a:prstGeom>
        </p:spPr>
      </p:pic>
      <p:sp>
        <p:nvSpPr>
          <p:cNvPr id="4" name="Rectangle 2">
            <a:extLst>
              <a:ext uri="{FF2B5EF4-FFF2-40B4-BE49-F238E27FC236}">
                <a16:creationId xmlns:a16="http://schemas.microsoft.com/office/drawing/2014/main" id="{966609B1-8D6D-EDA9-9E49-D122C2E99EAF}"/>
              </a:ext>
            </a:extLst>
          </p:cNvPr>
          <p:cNvSpPr>
            <a:spLocks noGrp="1" noChangeArrowheads="1"/>
          </p:cNvSpPr>
          <p:nvPr>
            <p:ph type="body" sz="half" idx="2"/>
          </p:nvPr>
        </p:nvSpPr>
        <p:spPr bwMode="auto">
          <a:xfrm>
            <a:off x="839788" y="1690063"/>
            <a:ext cx="4239108"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IN" sz="2200" b="1" dirty="0">
                <a:solidFill>
                  <a:srgbClr val="FF0000"/>
                </a:solidFill>
              </a:rPr>
              <a:t>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FontTx/>
              <a:buChar char="•"/>
            </a:pPr>
            <a:r>
              <a:rPr lang="en-US" sz="2200" dirty="0"/>
              <a:t>System and Login Access together account for </a:t>
            </a:r>
            <a:r>
              <a:rPr lang="en-US" sz="2200" b="1" dirty="0"/>
              <a:t>70%</a:t>
            </a:r>
            <a:r>
              <a:rPr lang="en-US" sz="2200" dirty="0"/>
              <a:t> of total tickets</a:t>
            </a:r>
            <a:br>
              <a:rPr lang="en-US" altLang="en-US" sz="2200" dirty="0"/>
            </a:br>
            <a:endParaRPr lang="en-US" altLang="en-US" sz="2200" dirty="0"/>
          </a:p>
          <a:p>
            <a:pPr eaLnBrk="0" fontAlgn="base" hangingPunct="0">
              <a:lnSpc>
                <a:spcPct val="100000"/>
              </a:lnSpc>
              <a:spcBef>
                <a:spcPct val="0"/>
              </a:spcBef>
              <a:spcAft>
                <a:spcPct val="0"/>
              </a:spcAft>
              <a:buFontTx/>
              <a:buChar char="•"/>
            </a:pPr>
            <a:r>
              <a:rPr lang="en-US" sz="2200" dirty="0"/>
              <a:t>Hardware contributes only </a:t>
            </a:r>
            <a:r>
              <a:rPr lang="en-US" sz="2200" b="1" dirty="0"/>
              <a:t>10%</a:t>
            </a:r>
            <a:r>
              <a:rPr lang="en-US" sz="2200" dirty="0"/>
              <a:t> of the volume</a:t>
            </a:r>
            <a:br>
              <a:rPr lang="en-US" sz="2200" dirty="0"/>
            </a:br>
            <a:endParaRPr lang="en-US" sz="2200" dirty="0"/>
          </a:p>
          <a:p>
            <a:pPr eaLnBrk="0" fontAlgn="base" hangingPunct="0">
              <a:lnSpc>
                <a:spcPct val="100000"/>
              </a:lnSpc>
              <a:spcBef>
                <a:spcPct val="0"/>
              </a:spcBef>
              <a:spcAft>
                <a:spcPct val="0"/>
              </a:spcAft>
              <a:buFontTx/>
              <a:buChar char="•"/>
            </a:pPr>
            <a:r>
              <a:rPr lang="en-US" sz="2200" dirty="0"/>
              <a:t>These two categories drive most of the helpdesk workload</a:t>
            </a:r>
            <a:endParaRPr lang="en-US" altLang="en-US" sz="2200" dirty="0"/>
          </a:p>
        </p:txBody>
      </p:sp>
      <p:pic>
        <p:nvPicPr>
          <p:cNvPr id="27" name="Picture 26">
            <a:extLst>
              <a:ext uri="{FF2B5EF4-FFF2-40B4-BE49-F238E27FC236}">
                <a16:creationId xmlns:a16="http://schemas.microsoft.com/office/drawing/2014/main" id="{C747A162-E539-1B96-29A5-D6B34E7C07A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021582" y="1"/>
            <a:ext cx="1170418" cy="934278"/>
          </a:xfrm>
          <a:prstGeom prst="rect">
            <a:avLst/>
          </a:prstGeom>
        </p:spPr>
      </p:pic>
    </p:spTree>
    <p:extLst>
      <p:ext uri="{BB962C8B-B14F-4D97-AF65-F5344CB8AC3E}">
        <p14:creationId xmlns:p14="http://schemas.microsoft.com/office/powerpoint/2010/main" val="827726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7123D-6595-1764-61A0-4D6B2E78A3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C882A8-EFD8-154E-5E18-18B479ED256F}"/>
              </a:ext>
            </a:extLst>
          </p:cNvPr>
          <p:cNvSpPr>
            <a:spLocks noGrp="1"/>
          </p:cNvSpPr>
          <p:nvPr>
            <p:ph type="title"/>
          </p:nvPr>
        </p:nvSpPr>
        <p:spPr>
          <a:xfrm>
            <a:off x="839788" y="0"/>
            <a:ext cx="10512424" cy="1600200"/>
          </a:xfrm>
        </p:spPr>
        <p:txBody>
          <a:bodyPr>
            <a:normAutofit/>
          </a:bodyPr>
          <a:lstStyle/>
          <a:p>
            <a:pPr algn="ctr"/>
            <a:r>
              <a:rPr lang="en-IN" sz="4400" b="1" u="sng" spc="50" dirty="0">
                <a:ln w="0">
                  <a:solidFill>
                    <a:srgbClr val="0070C0"/>
                  </a:solidFill>
                </a:ln>
                <a:solidFill>
                  <a:srgbClr val="0070C0"/>
                </a:solidFill>
                <a:effectLst>
                  <a:innerShdw blurRad="63500" dist="50800" dir="13500000">
                    <a:srgbClr val="000000">
                      <a:alpha val="50000"/>
                    </a:srgbClr>
                  </a:innerShdw>
                </a:effectLst>
              </a:rPr>
              <a:t>Resolution Time by Category</a:t>
            </a:r>
            <a:br>
              <a:rPr lang="en-IN" sz="4400" b="1" u="sng" spc="50" dirty="0">
                <a:ln w="0">
                  <a:solidFill>
                    <a:srgbClr val="0070C0"/>
                  </a:solidFill>
                </a:ln>
                <a:solidFill>
                  <a:srgbClr val="0070C0"/>
                </a:solidFill>
                <a:effectLst>
                  <a:innerShdw blurRad="63500" dist="50800" dir="13500000">
                    <a:srgbClr val="000000">
                      <a:alpha val="50000"/>
                    </a:srgbClr>
                  </a:innerShdw>
                </a:effectLst>
              </a:rPr>
            </a:br>
            <a:endParaRPr lang="en-IN" sz="4400" b="1" u="sng" spc="50" dirty="0">
              <a:ln w="0">
                <a:solidFill>
                  <a:srgbClr val="0070C0"/>
                </a:solidFill>
              </a:ln>
              <a:solidFill>
                <a:srgbClr val="0070C0"/>
              </a:solidFill>
              <a:effectLst>
                <a:innerShdw blurRad="63500" dist="50800" dir="13500000">
                  <a:srgbClr val="000000">
                    <a:alpha val="50000"/>
                  </a:srgbClr>
                </a:innerShdw>
              </a:effectLst>
            </a:endParaRPr>
          </a:p>
        </p:txBody>
      </p:sp>
      <p:pic>
        <p:nvPicPr>
          <p:cNvPr id="11" name="Content Placeholder 10">
            <a:extLst>
              <a:ext uri="{FF2B5EF4-FFF2-40B4-BE49-F238E27FC236}">
                <a16:creationId xmlns:a16="http://schemas.microsoft.com/office/drawing/2014/main" id="{BA474A93-9D4D-DCF0-AD03-D5BB36A462BA}"/>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rcRect/>
          <a:stretch/>
        </p:blipFill>
        <p:spPr>
          <a:xfrm>
            <a:off x="5232212" y="1755445"/>
            <a:ext cx="6120000" cy="3347111"/>
          </a:xfrm>
          <a:prstGeom prst="rect">
            <a:avLst/>
          </a:prstGeom>
        </p:spPr>
      </p:pic>
      <p:sp>
        <p:nvSpPr>
          <p:cNvPr id="5" name="Rectangle 1">
            <a:extLst>
              <a:ext uri="{FF2B5EF4-FFF2-40B4-BE49-F238E27FC236}">
                <a16:creationId xmlns:a16="http://schemas.microsoft.com/office/drawing/2014/main" id="{B85235D1-7C66-08EE-9AB4-53F52E04C879}"/>
              </a:ext>
            </a:extLst>
          </p:cNvPr>
          <p:cNvSpPr>
            <a:spLocks noGrp="1" noChangeArrowheads="1"/>
          </p:cNvSpPr>
          <p:nvPr>
            <p:ph type="body" sz="half" idx="2"/>
          </p:nvPr>
        </p:nvSpPr>
        <p:spPr bwMode="auto">
          <a:xfrm>
            <a:off x="839788" y="1690065"/>
            <a:ext cx="419935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IN" sz="2200" b="1" dirty="0">
                <a:solidFill>
                  <a:srgbClr val="FF0000"/>
                </a:solidFill>
              </a:rPr>
              <a:t>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FontTx/>
              <a:buChar char="•"/>
            </a:pPr>
            <a:r>
              <a:rPr lang="en-US" sz="2200" dirty="0"/>
              <a:t>Hardware takes the longest time </a:t>
            </a:r>
            <a:r>
              <a:rPr lang="en-US" sz="2200" b="1" dirty="0"/>
              <a:t>(average 7.63 days)</a:t>
            </a:r>
            <a:br>
              <a:rPr kumimoji="0" lang="en-US" altLang="en-US" sz="2200" b="0" i="0" u="none" strike="noStrike" cap="none" normalizeH="0" baseline="0" dirty="0">
                <a:ln>
                  <a:noFill/>
                </a:ln>
                <a:solidFill>
                  <a:schemeClr val="tx1"/>
                </a:solidFill>
                <a:effectLst/>
              </a:rPr>
            </a:br>
            <a:endParaRPr kumimoji="0" lang="en-US" altLang="en-US" sz="22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FontTx/>
              <a:buChar char="•"/>
            </a:pPr>
            <a:r>
              <a:rPr lang="en-US" sz="2200" dirty="0"/>
              <a:t>System category also shows high resolution time </a:t>
            </a:r>
            <a:r>
              <a:rPr lang="en-US" sz="2200" b="1" dirty="0"/>
              <a:t>(6.62 days)</a:t>
            </a:r>
            <a:br>
              <a:rPr lang="en-US" sz="2200" dirty="0"/>
            </a:br>
            <a:endParaRPr lang="en-US" sz="2200" dirty="0"/>
          </a:p>
          <a:p>
            <a:pPr eaLnBrk="0" fontAlgn="base" hangingPunct="0">
              <a:lnSpc>
                <a:spcPct val="100000"/>
              </a:lnSpc>
              <a:spcBef>
                <a:spcPct val="0"/>
              </a:spcBef>
              <a:spcAft>
                <a:spcPct val="0"/>
              </a:spcAft>
              <a:buFontTx/>
              <a:buChar char="•"/>
            </a:pPr>
            <a:r>
              <a:rPr lang="en-US" sz="2200" dirty="0"/>
              <a:t>Login Access is resolved fastest </a:t>
            </a:r>
            <a:r>
              <a:rPr lang="en-US" sz="2200" b="1" dirty="0"/>
              <a:t>(0.31 days)</a:t>
            </a:r>
          </a:p>
        </p:txBody>
      </p:sp>
      <p:pic>
        <p:nvPicPr>
          <p:cNvPr id="3" name="Picture 2">
            <a:extLst>
              <a:ext uri="{FF2B5EF4-FFF2-40B4-BE49-F238E27FC236}">
                <a16:creationId xmlns:a16="http://schemas.microsoft.com/office/drawing/2014/main" id="{95BA840D-44D6-7B24-F52A-51FFFBE52D8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021582" y="1"/>
            <a:ext cx="1170418" cy="934278"/>
          </a:xfrm>
          <a:prstGeom prst="rect">
            <a:avLst/>
          </a:prstGeom>
        </p:spPr>
      </p:pic>
    </p:spTree>
    <p:extLst>
      <p:ext uri="{BB962C8B-B14F-4D97-AF65-F5344CB8AC3E}">
        <p14:creationId xmlns:p14="http://schemas.microsoft.com/office/powerpoint/2010/main" val="1317114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D8AC4-312D-8AE9-5CEA-789EA97D65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67B69-3E56-36D4-EC5D-84F66555635A}"/>
              </a:ext>
            </a:extLst>
          </p:cNvPr>
          <p:cNvSpPr>
            <a:spLocks noGrp="1"/>
          </p:cNvSpPr>
          <p:nvPr>
            <p:ph type="title"/>
          </p:nvPr>
        </p:nvSpPr>
        <p:spPr>
          <a:xfrm>
            <a:off x="839788" y="0"/>
            <a:ext cx="10512424" cy="1600200"/>
          </a:xfrm>
        </p:spPr>
        <p:txBody>
          <a:bodyPr>
            <a:normAutofit/>
          </a:bodyPr>
          <a:lstStyle/>
          <a:p>
            <a:pPr algn="ctr"/>
            <a:r>
              <a:rPr lang="en-IN" sz="4400" b="1" u="sng" spc="50" dirty="0">
                <a:ln w="0">
                  <a:solidFill>
                    <a:srgbClr val="0070C0"/>
                  </a:solidFill>
                </a:ln>
                <a:solidFill>
                  <a:srgbClr val="0070C0"/>
                </a:solidFill>
                <a:effectLst>
                  <a:innerShdw blurRad="63500" dist="50800" dir="13500000">
                    <a:srgbClr val="000000">
                      <a:alpha val="50000"/>
                    </a:srgbClr>
                  </a:innerShdw>
                </a:effectLst>
              </a:rPr>
              <a:t>Severity Distribution</a:t>
            </a:r>
            <a:br>
              <a:rPr lang="en-IN" sz="4400" b="1" u="sng" spc="50" dirty="0">
                <a:ln w="0">
                  <a:solidFill>
                    <a:srgbClr val="0070C0"/>
                  </a:solidFill>
                </a:ln>
                <a:solidFill>
                  <a:srgbClr val="0070C0"/>
                </a:solidFill>
                <a:effectLst>
                  <a:innerShdw blurRad="63500" dist="50800" dir="13500000">
                    <a:srgbClr val="000000">
                      <a:alpha val="50000"/>
                    </a:srgbClr>
                  </a:innerShdw>
                </a:effectLst>
              </a:rPr>
            </a:br>
            <a:endParaRPr lang="en-IN" sz="4400" b="1" u="sng" spc="50" dirty="0">
              <a:ln w="0">
                <a:solidFill>
                  <a:srgbClr val="0070C0"/>
                </a:solidFill>
              </a:ln>
              <a:solidFill>
                <a:srgbClr val="0070C0"/>
              </a:solidFill>
              <a:effectLst>
                <a:innerShdw blurRad="63500" dist="50800" dir="13500000">
                  <a:srgbClr val="000000">
                    <a:alpha val="50000"/>
                  </a:srgbClr>
                </a:innerShdw>
              </a:effectLst>
            </a:endParaRPr>
          </a:p>
        </p:txBody>
      </p:sp>
      <p:grpSp>
        <p:nvGrpSpPr>
          <p:cNvPr id="3" name="Content Placeholder 10">
            <a:extLst>
              <a:ext uri="{FF2B5EF4-FFF2-40B4-BE49-F238E27FC236}">
                <a16:creationId xmlns:a16="http://schemas.microsoft.com/office/drawing/2014/main" id="{B1D0062F-F0E6-B2BA-E63B-C01DDA48A150}"/>
              </a:ext>
            </a:extLst>
          </p:cNvPr>
          <p:cNvGrpSpPr/>
          <p:nvPr/>
        </p:nvGrpSpPr>
        <p:grpSpPr>
          <a:xfrm>
            <a:off x="5232212" y="1600201"/>
            <a:ext cx="6120000" cy="3502356"/>
            <a:chOff x="5232212" y="1600201"/>
            <a:chExt cx="6120000" cy="3502356"/>
          </a:xfrm>
        </p:grpSpPr>
        <p:sp>
          <p:nvSpPr>
            <p:cNvPr id="5" name="Freeform: Shape 4">
              <a:extLst>
                <a:ext uri="{FF2B5EF4-FFF2-40B4-BE49-F238E27FC236}">
                  <a16:creationId xmlns:a16="http://schemas.microsoft.com/office/drawing/2014/main" id="{E1DBF74D-C29B-5AB0-A248-FD4817FE67BF}"/>
                </a:ext>
              </a:extLst>
            </p:cNvPr>
            <p:cNvSpPr/>
            <p:nvPr/>
          </p:nvSpPr>
          <p:spPr>
            <a:xfrm>
              <a:off x="5232212" y="1600201"/>
              <a:ext cx="6120000" cy="3502356"/>
            </a:xfrm>
            <a:custGeom>
              <a:avLst/>
              <a:gdLst>
                <a:gd name="csX0" fmla="*/ -1573 w 6120000"/>
                <a:gd name="csY0" fmla="*/ -391 h 3502356"/>
                <a:gd name="csX1" fmla="*/ 6118427 w 6120000"/>
                <a:gd name="csY1" fmla="*/ -391 h 3502356"/>
                <a:gd name="csX2" fmla="*/ 6118427 w 6120000"/>
                <a:gd name="csY2" fmla="*/ 3501965 h 3502356"/>
                <a:gd name="csX3" fmla="*/ -1573 w 6120000"/>
                <a:gd name="csY3" fmla="*/ 3501965 h 3502356"/>
              </a:gdLst>
              <a:ahLst/>
              <a:cxnLst>
                <a:cxn ang="0">
                  <a:pos x="csX0" y="csY0"/>
                </a:cxn>
                <a:cxn ang="0">
                  <a:pos x="csX1" y="csY1"/>
                </a:cxn>
                <a:cxn ang="0">
                  <a:pos x="csX2" y="csY2"/>
                </a:cxn>
                <a:cxn ang="0">
                  <a:pos x="csX3" y="csY3"/>
                </a:cxn>
              </a:cxnLst>
              <a:rect l="l" t="t" r="r" b="b"/>
              <a:pathLst>
                <a:path w="6120000" h="3502356">
                  <a:moveTo>
                    <a:pt x="-1573" y="-391"/>
                  </a:moveTo>
                  <a:lnTo>
                    <a:pt x="6118427" y="-391"/>
                  </a:lnTo>
                  <a:lnTo>
                    <a:pt x="6118427" y="3501965"/>
                  </a:lnTo>
                  <a:lnTo>
                    <a:pt x="-1573" y="3501965"/>
                  </a:lnTo>
                  <a:close/>
                </a:path>
              </a:pathLst>
            </a:custGeom>
            <a:solidFill>
              <a:srgbClr val="FFFFFF"/>
            </a:solidFill>
            <a:ln w="16939" cap="flat">
              <a:noFill/>
              <a:prstDash val="solid"/>
              <a:miter/>
            </a:ln>
          </p:spPr>
        </p:sp>
        <p:sp>
          <p:nvSpPr>
            <p:cNvPr id="6" name="Freeform: Shape 5">
              <a:extLst>
                <a:ext uri="{FF2B5EF4-FFF2-40B4-BE49-F238E27FC236}">
                  <a16:creationId xmlns:a16="http://schemas.microsoft.com/office/drawing/2014/main" id="{AE6285F0-F331-AA9A-647A-B72A7CF7A265}"/>
                </a:ext>
              </a:extLst>
            </p:cNvPr>
            <p:cNvSpPr/>
            <p:nvPr/>
          </p:nvSpPr>
          <p:spPr>
            <a:xfrm>
              <a:off x="7698860" y="2234022"/>
              <a:ext cx="3068476" cy="2483013"/>
            </a:xfrm>
            <a:custGeom>
              <a:avLst/>
              <a:gdLst>
                <a:gd name="csX0" fmla="*/ -1573 w 3068476"/>
                <a:gd name="csY0" fmla="*/ -391 h 2483013"/>
                <a:gd name="csX1" fmla="*/ -1573 w 3068476"/>
                <a:gd name="csY1" fmla="*/ 2482623 h 2483013"/>
                <a:gd name="csX2" fmla="*/ 778261 w 3068476"/>
                <a:gd name="csY2" fmla="*/ -391 h 2483013"/>
                <a:gd name="csX3" fmla="*/ 778261 w 3068476"/>
                <a:gd name="csY3" fmla="*/ 2482623 h 2483013"/>
                <a:gd name="csX4" fmla="*/ 1541142 w 3068476"/>
                <a:gd name="csY4" fmla="*/ -391 h 2483013"/>
                <a:gd name="csX5" fmla="*/ 1541142 w 3068476"/>
                <a:gd name="csY5" fmla="*/ 2482623 h 2483013"/>
                <a:gd name="csX6" fmla="*/ 2304023 w 3068476"/>
                <a:gd name="csY6" fmla="*/ -391 h 2483013"/>
                <a:gd name="csX7" fmla="*/ 2304023 w 3068476"/>
                <a:gd name="csY7" fmla="*/ 2482623 h 2483013"/>
                <a:gd name="csX8" fmla="*/ 3066904 w 3068476"/>
                <a:gd name="csY8" fmla="*/ -391 h 2483013"/>
                <a:gd name="csX9" fmla="*/ 3066904 w 3068476"/>
                <a:gd name="csY9" fmla="*/ 2482623 h 24830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068476" h="2483013">
                  <a:moveTo>
                    <a:pt x="-1573" y="-391"/>
                  </a:moveTo>
                  <a:lnTo>
                    <a:pt x="-1573" y="2482623"/>
                  </a:lnTo>
                  <a:moveTo>
                    <a:pt x="778261" y="-391"/>
                  </a:moveTo>
                  <a:lnTo>
                    <a:pt x="778261" y="2482623"/>
                  </a:lnTo>
                  <a:moveTo>
                    <a:pt x="1541142" y="-391"/>
                  </a:moveTo>
                  <a:lnTo>
                    <a:pt x="1541142" y="2482623"/>
                  </a:lnTo>
                  <a:moveTo>
                    <a:pt x="2304023" y="-391"/>
                  </a:moveTo>
                  <a:lnTo>
                    <a:pt x="2304023" y="2482623"/>
                  </a:lnTo>
                  <a:moveTo>
                    <a:pt x="3066904" y="-391"/>
                  </a:moveTo>
                  <a:lnTo>
                    <a:pt x="3066904" y="2482623"/>
                  </a:lnTo>
                </a:path>
              </a:pathLst>
            </a:custGeom>
            <a:noFill/>
            <a:ln w="16939" cap="flat">
              <a:solidFill>
                <a:srgbClr val="D9D9D9"/>
              </a:solidFill>
              <a:prstDash val="solid"/>
              <a:round/>
            </a:ln>
          </p:spPr>
        </p:sp>
        <p:sp>
          <p:nvSpPr>
            <p:cNvPr id="7" name="Freeform: Shape 6">
              <a:extLst>
                <a:ext uri="{FF2B5EF4-FFF2-40B4-BE49-F238E27FC236}">
                  <a16:creationId xmlns:a16="http://schemas.microsoft.com/office/drawing/2014/main" id="{04C68F74-5E39-2842-F53D-3A4A8814B4BA}"/>
                </a:ext>
              </a:extLst>
            </p:cNvPr>
            <p:cNvSpPr/>
            <p:nvPr/>
          </p:nvSpPr>
          <p:spPr>
            <a:xfrm>
              <a:off x="6944455" y="2397379"/>
              <a:ext cx="3390581" cy="2169369"/>
            </a:xfrm>
            <a:custGeom>
              <a:avLst/>
              <a:gdLst>
                <a:gd name="csX0" fmla="*/ -1573 w 3390581"/>
                <a:gd name="csY0" fmla="*/ 2168979 h 2169369"/>
                <a:gd name="csX1" fmla="*/ 15380 w 3390581"/>
                <a:gd name="csY1" fmla="*/ 2168979 h 2169369"/>
                <a:gd name="csX2" fmla="*/ 15380 w 3390581"/>
                <a:gd name="csY2" fmla="*/ 1986020 h 2169369"/>
                <a:gd name="csX3" fmla="*/ -1573 w 3390581"/>
                <a:gd name="csY3" fmla="*/ 1986020 h 2169369"/>
                <a:gd name="csX4" fmla="*/ 83192 w 3390581"/>
                <a:gd name="csY4" fmla="*/ 1659308 h 2169369"/>
                <a:gd name="csX5" fmla="*/ -1573 w 3390581"/>
                <a:gd name="csY5" fmla="*/ 1659308 h 2169369"/>
                <a:gd name="csX6" fmla="*/ -1573 w 3390581"/>
                <a:gd name="csY6" fmla="*/ 1489417 h 2169369"/>
                <a:gd name="csX7" fmla="*/ 83192 w 3390581"/>
                <a:gd name="csY7" fmla="*/ 1489417 h 2169369"/>
                <a:gd name="csX8" fmla="*/ 3389009 w 3390581"/>
                <a:gd name="csY8" fmla="*/ 1162705 h 2169369"/>
                <a:gd name="csX9" fmla="*/ -1573 w 3390581"/>
                <a:gd name="csY9" fmla="*/ 1162705 h 2169369"/>
                <a:gd name="csX10" fmla="*/ -1573 w 3390581"/>
                <a:gd name="csY10" fmla="*/ 992814 h 2169369"/>
                <a:gd name="csX11" fmla="*/ 3389009 w 3390581"/>
                <a:gd name="csY11" fmla="*/ 992814 h 2169369"/>
                <a:gd name="csX12" fmla="*/ 184909 w 3390581"/>
                <a:gd name="csY12" fmla="*/ 666102 h 2169369"/>
                <a:gd name="csX13" fmla="*/ -1573 w 3390581"/>
                <a:gd name="csY13" fmla="*/ 666102 h 2169369"/>
                <a:gd name="csX14" fmla="*/ -1573 w 3390581"/>
                <a:gd name="csY14" fmla="*/ 496212 h 2169369"/>
                <a:gd name="csX15" fmla="*/ 184909 w 3390581"/>
                <a:gd name="csY15" fmla="*/ 496212 h 2169369"/>
                <a:gd name="csX16" fmla="*/ 49286 w 3390581"/>
                <a:gd name="csY16" fmla="*/ 169499 h 2169369"/>
                <a:gd name="csX17" fmla="*/ -1573 w 3390581"/>
                <a:gd name="csY17" fmla="*/ 169499 h 2169369"/>
                <a:gd name="csX18" fmla="*/ -1573 w 3390581"/>
                <a:gd name="csY18" fmla="*/ -391 h 2169369"/>
                <a:gd name="csX19" fmla="*/ 49286 w 3390581"/>
                <a:gd name="csY19" fmla="*/ -391 h 21693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3390581" h="2169369">
                  <a:moveTo>
                    <a:pt x="-1573" y="2168979"/>
                  </a:moveTo>
                  <a:lnTo>
                    <a:pt x="15380" y="2168979"/>
                  </a:lnTo>
                  <a:lnTo>
                    <a:pt x="15380" y="1986020"/>
                  </a:lnTo>
                  <a:lnTo>
                    <a:pt x="-1573" y="1986020"/>
                  </a:lnTo>
                  <a:close/>
                  <a:moveTo>
                    <a:pt x="83192" y="1659308"/>
                  </a:moveTo>
                  <a:lnTo>
                    <a:pt x="-1573" y="1659308"/>
                  </a:lnTo>
                  <a:lnTo>
                    <a:pt x="-1573" y="1489417"/>
                  </a:lnTo>
                  <a:lnTo>
                    <a:pt x="83192" y="1489417"/>
                  </a:lnTo>
                  <a:close/>
                  <a:moveTo>
                    <a:pt x="3389009" y="1162705"/>
                  </a:moveTo>
                  <a:lnTo>
                    <a:pt x="-1573" y="1162705"/>
                  </a:lnTo>
                  <a:lnTo>
                    <a:pt x="-1573" y="992814"/>
                  </a:lnTo>
                  <a:lnTo>
                    <a:pt x="3389009" y="992814"/>
                  </a:lnTo>
                  <a:close/>
                  <a:moveTo>
                    <a:pt x="184909" y="666102"/>
                  </a:moveTo>
                  <a:lnTo>
                    <a:pt x="-1573" y="666102"/>
                  </a:lnTo>
                  <a:lnTo>
                    <a:pt x="-1573" y="496212"/>
                  </a:lnTo>
                  <a:lnTo>
                    <a:pt x="184909" y="496212"/>
                  </a:lnTo>
                  <a:close/>
                  <a:moveTo>
                    <a:pt x="49286" y="169499"/>
                  </a:moveTo>
                  <a:lnTo>
                    <a:pt x="-1573" y="169499"/>
                  </a:lnTo>
                  <a:lnTo>
                    <a:pt x="-1573" y="-391"/>
                  </a:lnTo>
                  <a:lnTo>
                    <a:pt x="49286" y="-391"/>
                  </a:lnTo>
                  <a:close/>
                </a:path>
              </a:pathLst>
            </a:custGeom>
            <a:solidFill>
              <a:srgbClr val="4285F4"/>
            </a:solidFill>
            <a:ln w="16939" cap="flat">
              <a:noFill/>
              <a:prstDash val="solid"/>
              <a:miter/>
            </a:ln>
          </p:spPr>
        </p:sp>
        <p:sp>
          <p:nvSpPr>
            <p:cNvPr id="8" name="Freeform: Shape 7">
              <a:extLst>
                <a:ext uri="{FF2B5EF4-FFF2-40B4-BE49-F238E27FC236}">
                  <a16:creationId xmlns:a16="http://schemas.microsoft.com/office/drawing/2014/main" id="{A878F2BF-1A63-7A09-A237-CF91F799B37C}"/>
                </a:ext>
              </a:extLst>
            </p:cNvPr>
            <p:cNvSpPr/>
            <p:nvPr/>
          </p:nvSpPr>
          <p:spPr>
            <a:xfrm flipV="1">
              <a:off x="6935979" y="2234022"/>
              <a:ext cx="1" cy="2483013"/>
            </a:xfrm>
            <a:custGeom>
              <a:avLst/>
              <a:gdLst>
                <a:gd name="csX0" fmla="*/ 101 w 1"/>
                <a:gd name="csY0" fmla="*/ 49 h 2483013"/>
                <a:gd name="csX1" fmla="*/ 102 w 1"/>
                <a:gd name="csY1" fmla="*/ 2483062 h 2483013"/>
              </a:gdLst>
              <a:ahLst/>
              <a:cxnLst>
                <a:cxn ang="0">
                  <a:pos x="csX0" y="csY0"/>
                </a:cxn>
                <a:cxn ang="0">
                  <a:pos x="csX1" y="csY1"/>
                </a:cxn>
              </a:cxnLst>
              <a:rect l="l" t="t" r="r" b="b"/>
              <a:pathLst>
                <a:path w="1" h="2483013">
                  <a:moveTo>
                    <a:pt x="101" y="49"/>
                  </a:moveTo>
                  <a:lnTo>
                    <a:pt x="102" y="2483062"/>
                  </a:lnTo>
                </a:path>
              </a:pathLst>
            </a:custGeom>
            <a:noFill/>
            <a:ln w="16939" cap="flat">
              <a:solidFill>
                <a:srgbClr val="D9D9D9"/>
              </a:solidFill>
              <a:prstDash val="solid"/>
              <a:round/>
            </a:ln>
          </p:spPr>
        </p:sp>
        <p:sp>
          <p:nvSpPr>
            <p:cNvPr id="9" name="TextBox 8">
              <a:extLst>
                <a:ext uri="{FF2B5EF4-FFF2-40B4-BE49-F238E27FC236}">
                  <a16:creationId xmlns:a16="http://schemas.microsoft.com/office/drawing/2014/main" id="{EBA163B4-7C5D-78F4-54EA-CE085643B435}"/>
                </a:ext>
              </a:extLst>
            </p:cNvPr>
            <p:cNvSpPr txBox="1"/>
            <p:nvPr/>
          </p:nvSpPr>
          <p:spPr>
            <a:xfrm>
              <a:off x="6996776" y="4339856"/>
              <a:ext cx="522302" cy="266639"/>
            </a:xfrm>
            <a:prstGeom prst="rect">
              <a:avLst/>
            </a:prstGeom>
            <a:noFill/>
          </p:spPr>
          <p:txBody>
            <a:bodyPr wrap="none" rtlCol="0">
              <a:spAutoFit/>
            </a:bodyPr>
            <a:lstStyle/>
            <a:p>
              <a:pPr algn="l"/>
              <a:r>
                <a:rPr lang="en-IN" sz="1201" b="1" spc="0" baseline="0">
                  <a:ln/>
                  <a:solidFill>
                    <a:srgbClr val="000000"/>
                  </a:solidFill>
                  <a:latin typeface="Arial"/>
                  <a:cs typeface="Arial"/>
                  <a:sym typeface="Arial"/>
                  <a:rtl val="0"/>
                </a:rPr>
                <a:t>356</a:t>
              </a:r>
            </a:p>
          </p:txBody>
        </p:sp>
        <p:sp>
          <p:nvSpPr>
            <p:cNvPr id="10" name="TextBox 9">
              <a:extLst>
                <a:ext uri="{FF2B5EF4-FFF2-40B4-BE49-F238E27FC236}">
                  <a16:creationId xmlns:a16="http://schemas.microsoft.com/office/drawing/2014/main" id="{2E4A6A88-F844-2846-6647-C434819D9C5A}"/>
                </a:ext>
              </a:extLst>
            </p:cNvPr>
            <p:cNvSpPr txBox="1"/>
            <p:nvPr/>
          </p:nvSpPr>
          <p:spPr>
            <a:xfrm>
              <a:off x="7069673" y="3843253"/>
              <a:ext cx="635443" cy="266639"/>
            </a:xfrm>
            <a:prstGeom prst="rect">
              <a:avLst/>
            </a:prstGeom>
            <a:noFill/>
          </p:spPr>
          <p:txBody>
            <a:bodyPr wrap="none" rtlCol="0">
              <a:spAutoFit/>
            </a:bodyPr>
            <a:lstStyle/>
            <a:p>
              <a:pPr algn="l"/>
              <a:r>
                <a:rPr lang="en-IN" sz="1201" b="1" spc="0" baseline="0">
                  <a:ln/>
                  <a:solidFill>
                    <a:srgbClr val="000000"/>
                  </a:solidFill>
                  <a:latin typeface="Arial"/>
                  <a:cs typeface="Arial"/>
                  <a:sym typeface="Arial"/>
                  <a:rtl val="0"/>
                </a:rPr>
                <a:t>2258</a:t>
              </a:r>
            </a:p>
          </p:txBody>
        </p:sp>
        <p:sp>
          <p:nvSpPr>
            <p:cNvPr id="12" name="TextBox 11">
              <a:extLst>
                <a:ext uri="{FF2B5EF4-FFF2-40B4-BE49-F238E27FC236}">
                  <a16:creationId xmlns:a16="http://schemas.microsoft.com/office/drawing/2014/main" id="{8CBF5901-79B4-B702-81E5-47386B64F4D4}"/>
                </a:ext>
              </a:extLst>
            </p:cNvPr>
            <p:cNvSpPr txBox="1"/>
            <p:nvPr/>
          </p:nvSpPr>
          <p:spPr>
            <a:xfrm>
              <a:off x="10379390" y="3346651"/>
              <a:ext cx="748583" cy="266639"/>
            </a:xfrm>
            <a:prstGeom prst="rect">
              <a:avLst/>
            </a:prstGeom>
            <a:noFill/>
          </p:spPr>
          <p:txBody>
            <a:bodyPr wrap="none" rtlCol="0">
              <a:spAutoFit/>
            </a:bodyPr>
            <a:lstStyle/>
            <a:p>
              <a:pPr algn="l"/>
              <a:r>
                <a:rPr lang="en-IN" sz="1201" b="1" spc="0" baseline="0">
                  <a:ln/>
                  <a:solidFill>
                    <a:srgbClr val="000000"/>
                  </a:solidFill>
                  <a:latin typeface="Arial"/>
                  <a:cs typeface="Arial"/>
                  <a:sym typeface="Arial"/>
                  <a:rtl val="0"/>
                </a:rPr>
                <a:t>88656</a:t>
              </a:r>
            </a:p>
          </p:txBody>
        </p:sp>
        <p:sp>
          <p:nvSpPr>
            <p:cNvPr id="13" name="TextBox 12">
              <a:extLst>
                <a:ext uri="{FF2B5EF4-FFF2-40B4-BE49-F238E27FC236}">
                  <a16:creationId xmlns:a16="http://schemas.microsoft.com/office/drawing/2014/main" id="{A881A12F-0C18-09E3-5A0A-8A3F7D08A2FA}"/>
                </a:ext>
              </a:extLst>
            </p:cNvPr>
            <p:cNvSpPr txBox="1"/>
            <p:nvPr/>
          </p:nvSpPr>
          <p:spPr>
            <a:xfrm>
              <a:off x="7168339" y="2850048"/>
              <a:ext cx="635443" cy="266639"/>
            </a:xfrm>
            <a:prstGeom prst="rect">
              <a:avLst/>
            </a:prstGeom>
            <a:noFill/>
          </p:spPr>
          <p:txBody>
            <a:bodyPr wrap="none" rtlCol="0">
              <a:spAutoFit/>
            </a:bodyPr>
            <a:lstStyle/>
            <a:p>
              <a:pPr algn="l"/>
              <a:r>
                <a:rPr lang="en-IN" sz="1201" b="1" spc="0" baseline="0">
                  <a:ln/>
                  <a:solidFill>
                    <a:srgbClr val="000000"/>
                  </a:solidFill>
                  <a:latin typeface="Arial"/>
                  <a:cs typeface="Arial"/>
                  <a:sym typeface="Arial"/>
                  <a:rtl val="0"/>
                </a:rPr>
                <a:t>4836</a:t>
              </a:r>
            </a:p>
          </p:txBody>
        </p:sp>
        <p:sp>
          <p:nvSpPr>
            <p:cNvPr id="14" name="TextBox 13">
              <a:extLst>
                <a:ext uri="{FF2B5EF4-FFF2-40B4-BE49-F238E27FC236}">
                  <a16:creationId xmlns:a16="http://schemas.microsoft.com/office/drawing/2014/main" id="{FF4F3698-47BB-A746-0A3C-CD0F720DE79D}"/>
                </a:ext>
              </a:extLst>
            </p:cNvPr>
            <p:cNvSpPr txBox="1"/>
            <p:nvPr/>
          </p:nvSpPr>
          <p:spPr>
            <a:xfrm>
              <a:off x="7036446" y="2340377"/>
              <a:ext cx="635443" cy="266639"/>
            </a:xfrm>
            <a:prstGeom prst="rect">
              <a:avLst/>
            </a:prstGeom>
            <a:noFill/>
          </p:spPr>
          <p:txBody>
            <a:bodyPr wrap="none" rtlCol="0">
              <a:spAutoFit/>
            </a:bodyPr>
            <a:lstStyle/>
            <a:p>
              <a:pPr algn="l"/>
              <a:r>
                <a:rPr lang="en-IN" sz="1201" b="1" spc="0" baseline="0">
                  <a:ln/>
                  <a:solidFill>
                    <a:srgbClr val="000000"/>
                  </a:solidFill>
                  <a:latin typeface="Arial"/>
                  <a:cs typeface="Arial"/>
                  <a:sym typeface="Arial"/>
                  <a:rtl val="0"/>
                </a:rPr>
                <a:t>1392</a:t>
              </a:r>
            </a:p>
          </p:txBody>
        </p:sp>
        <p:sp>
          <p:nvSpPr>
            <p:cNvPr id="15" name="TextBox 14">
              <a:extLst>
                <a:ext uri="{FF2B5EF4-FFF2-40B4-BE49-F238E27FC236}">
                  <a16:creationId xmlns:a16="http://schemas.microsoft.com/office/drawing/2014/main" id="{829B1514-36CC-1E71-3C50-DEAC090C3B6D}"/>
                </a:ext>
              </a:extLst>
            </p:cNvPr>
            <p:cNvSpPr txBox="1"/>
            <p:nvPr/>
          </p:nvSpPr>
          <p:spPr>
            <a:xfrm>
              <a:off x="6790968" y="4771116"/>
              <a:ext cx="296020" cy="266639"/>
            </a:xfrm>
            <a:prstGeom prst="rect">
              <a:avLst/>
            </a:prstGeom>
            <a:noFill/>
          </p:spPr>
          <p:txBody>
            <a:bodyPr wrap="none" rtlCol="0">
              <a:spAutoFit/>
            </a:bodyPr>
            <a:lstStyle/>
            <a:p>
              <a:pPr algn="l"/>
              <a:r>
                <a:rPr lang="en-IN" sz="1201" b="1" spc="0" baseline="0">
                  <a:ln/>
                  <a:solidFill>
                    <a:srgbClr val="000000"/>
                  </a:solidFill>
                  <a:latin typeface="Arial"/>
                  <a:cs typeface="Arial"/>
                  <a:sym typeface="Arial"/>
                  <a:rtl val="0"/>
                </a:rPr>
                <a:t>0</a:t>
              </a:r>
            </a:p>
          </p:txBody>
        </p:sp>
        <p:sp>
          <p:nvSpPr>
            <p:cNvPr id="16" name="TextBox 15">
              <a:extLst>
                <a:ext uri="{FF2B5EF4-FFF2-40B4-BE49-F238E27FC236}">
                  <a16:creationId xmlns:a16="http://schemas.microsoft.com/office/drawing/2014/main" id="{ED7B9F8B-80EA-5D48-3507-B0D5A8594032}"/>
                </a:ext>
              </a:extLst>
            </p:cNvPr>
            <p:cNvSpPr txBox="1"/>
            <p:nvPr/>
          </p:nvSpPr>
          <p:spPr>
            <a:xfrm>
              <a:off x="7330748" y="4771116"/>
              <a:ext cx="748583" cy="266639"/>
            </a:xfrm>
            <a:prstGeom prst="rect">
              <a:avLst/>
            </a:prstGeom>
            <a:noFill/>
          </p:spPr>
          <p:txBody>
            <a:bodyPr wrap="none" rtlCol="0">
              <a:spAutoFit/>
            </a:bodyPr>
            <a:lstStyle/>
            <a:p>
              <a:pPr algn="l"/>
              <a:r>
                <a:rPr lang="en-IN" sz="1201" b="1" spc="0" baseline="0">
                  <a:ln/>
                  <a:solidFill>
                    <a:srgbClr val="000000"/>
                  </a:solidFill>
                  <a:latin typeface="Arial"/>
                  <a:cs typeface="Arial"/>
                  <a:sym typeface="Arial"/>
                  <a:rtl val="0"/>
                </a:rPr>
                <a:t>20000</a:t>
              </a:r>
            </a:p>
          </p:txBody>
        </p:sp>
        <p:sp>
          <p:nvSpPr>
            <p:cNvPr id="17" name="TextBox 16">
              <a:extLst>
                <a:ext uri="{FF2B5EF4-FFF2-40B4-BE49-F238E27FC236}">
                  <a16:creationId xmlns:a16="http://schemas.microsoft.com/office/drawing/2014/main" id="{3482B6D1-F135-6D6D-2B76-91AEFB1A1E8E}"/>
                </a:ext>
              </a:extLst>
            </p:cNvPr>
            <p:cNvSpPr txBox="1"/>
            <p:nvPr/>
          </p:nvSpPr>
          <p:spPr>
            <a:xfrm>
              <a:off x="8097020" y="4771116"/>
              <a:ext cx="748583" cy="266639"/>
            </a:xfrm>
            <a:prstGeom prst="rect">
              <a:avLst/>
            </a:prstGeom>
            <a:noFill/>
          </p:spPr>
          <p:txBody>
            <a:bodyPr wrap="none" rtlCol="0">
              <a:spAutoFit/>
            </a:bodyPr>
            <a:lstStyle/>
            <a:p>
              <a:pPr algn="l"/>
              <a:r>
                <a:rPr lang="en-IN" sz="1201" b="1" spc="0" baseline="0">
                  <a:ln/>
                  <a:solidFill>
                    <a:srgbClr val="000000"/>
                  </a:solidFill>
                  <a:latin typeface="Arial"/>
                  <a:cs typeface="Arial"/>
                  <a:sym typeface="Arial"/>
                  <a:rtl val="0"/>
                </a:rPr>
                <a:t>40000</a:t>
              </a:r>
            </a:p>
          </p:txBody>
        </p:sp>
        <p:sp>
          <p:nvSpPr>
            <p:cNvPr id="18" name="TextBox 17">
              <a:extLst>
                <a:ext uri="{FF2B5EF4-FFF2-40B4-BE49-F238E27FC236}">
                  <a16:creationId xmlns:a16="http://schemas.microsoft.com/office/drawing/2014/main" id="{BA49527D-0449-61C1-6964-EED5145DEECE}"/>
                </a:ext>
              </a:extLst>
            </p:cNvPr>
            <p:cNvSpPr txBox="1"/>
            <p:nvPr/>
          </p:nvSpPr>
          <p:spPr>
            <a:xfrm>
              <a:off x="8863122" y="4771116"/>
              <a:ext cx="748583" cy="266639"/>
            </a:xfrm>
            <a:prstGeom prst="rect">
              <a:avLst/>
            </a:prstGeom>
            <a:noFill/>
          </p:spPr>
          <p:txBody>
            <a:bodyPr wrap="none" rtlCol="0">
              <a:spAutoFit/>
            </a:bodyPr>
            <a:lstStyle/>
            <a:p>
              <a:pPr algn="l"/>
              <a:r>
                <a:rPr lang="en-IN" sz="1201" b="1" spc="0" baseline="0">
                  <a:ln/>
                  <a:solidFill>
                    <a:srgbClr val="000000"/>
                  </a:solidFill>
                  <a:latin typeface="Arial"/>
                  <a:cs typeface="Arial"/>
                  <a:sym typeface="Arial"/>
                  <a:rtl val="0"/>
                </a:rPr>
                <a:t>60000</a:t>
              </a:r>
            </a:p>
          </p:txBody>
        </p:sp>
        <p:sp>
          <p:nvSpPr>
            <p:cNvPr id="19" name="TextBox 18">
              <a:extLst>
                <a:ext uri="{FF2B5EF4-FFF2-40B4-BE49-F238E27FC236}">
                  <a16:creationId xmlns:a16="http://schemas.microsoft.com/office/drawing/2014/main" id="{7BA77224-982F-3C56-CAA7-F4F79902618F}"/>
                </a:ext>
              </a:extLst>
            </p:cNvPr>
            <p:cNvSpPr txBox="1"/>
            <p:nvPr/>
          </p:nvSpPr>
          <p:spPr>
            <a:xfrm>
              <a:off x="9629393" y="4771116"/>
              <a:ext cx="748583" cy="266639"/>
            </a:xfrm>
            <a:prstGeom prst="rect">
              <a:avLst/>
            </a:prstGeom>
            <a:noFill/>
          </p:spPr>
          <p:txBody>
            <a:bodyPr wrap="none" rtlCol="0">
              <a:spAutoFit/>
            </a:bodyPr>
            <a:lstStyle/>
            <a:p>
              <a:pPr algn="l"/>
              <a:r>
                <a:rPr lang="en-IN" sz="1201" b="1" spc="0" baseline="0">
                  <a:ln/>
                  <a:solidFill>
                    <a:srgbClr val="000000"/>
                  </a:solidFill>
                  <a:latin typeface="Arial"/>
                  <a:cs typeface="Arial"/>
                  <a:sym typeface="Arial"/>
                  <a:rtl val="0"/>
                </a:rPr>
                <a:t>80000</a:t>
              </a:r>
            </a:p>
          </p:txBody>
        </p:sp>
        <p:sp>
          <p:nvSpPr>
            <p:cNvPr id="20" name="TextBox 19">
              <a:extLst>
                <a:ext uri="{FF2B5EF4-FFF2-40B4-BE49-F238E27FC236}">
                  <a16:creationId xmlns:a16="http://schemas.microsoft.com/office/drawing/2014/main" id="{D7A36E1A-B88A-1FB8-C147-A29AB984C7B2}"/>
                </a:ext>
              </a:extLst>
            </p:cNvPr>
            <p:cNvSpPr txBox="1"/>
            <p:nvPr/>
          </p:nvSpPr>
          <p:spPr>
            <a:xfrm>
              <a:off x="10339042" y="4771116"/>
              <a:ext cx="861724" cy="266639"/>
            </a:xfrm>
            <a:prstGeom prst="rect">
              <a:avLst/>
            </a:prstGeom>
            <a:noFill/>
          </p:spPr>
          <p:txBody>
            <a:bodyPr wrap="none" rtlCol="0">
              <a:spAutoFit/>
            </a:bodyPr>
            <a:lstStyle/>
            <a:p>
              <a:pPr algn="l"/>
              <a:r>
                <a:rPr lang="en-IN" sz="1201" b="1" spc="0" baseline="0">
                  <a:ln/>
                  <a:solidFill>
                    <a:srgbClr val="000000"/>
                  </a:solidFill>
                  <a:latin typeface="Arial"/>
                  <a:cs typeface="Arial"/>
                  <a:sym typeface="Arial"/>
                  <a:rtl val="0"/>
                </a:rPr>
                <a:t>100000</a:t>
              </a:r>
            </a:p>
          </p:txBody>
        </p:sp>
        <p:sp>
          <p:nvSpPr>
            <p:cNvPr id="21" name="TextBox 20">
              <a:extLst>
                <a:ext uri="{FF2B5EF4-FFF2-40B4-BE49-F238E27FC236}">
                  <a16:creationId xmlns:a16="http://schemas.microsoft.com/office/drawing/2014/main" id="{550C7AD4-209D-1CC3-449C-9FD4402BBEE7}"/>
                </a:ext>
              </a:extLst>
            </p:cNvPr>
            <p:cNvSpPr txBox="1"/>
            <p:nvPr/>
          </p:nvSpPr>
          <p:spPr>
            <a:xfrm>
              <a:off x="5293348" y="4339856"/>
              <a:ext cx="1562124" cy="266639"/>
            </a:xfrm>
            <a:prstGeom prst="rect">
              <a:avLst/>
            </a:prstGeom>
            <a:noFill/>
          </p:spPr>
          <p:txBody>
            <a:bodyPr wrap="none" rtlCol="0">
              <a:spAutoFit/>
            </a:bodyPr>
            <a:lstStyle/>
            <a:p>
              <a:pPr algn="l"/>
              <a:r>
                <a:rPr lang="en-IN" sz="1201" b="1" spc="0" baseline="0">
                  <a:ln/>
                  <a:solidFill>
                    <a:srgbClr val="000000"/>
                  </a:solidFill>
                  <a:latin typeface="Arial"/>
                  <a:cs typeface="Arial"/>
                  <a:sym typeface="Arial"/>
                  <a:rtl val="0"/>
                </a:rPr>
                <a:t>0 - Unclasified</a:t>
              </a:r>
            </a:p>
          </p:txBody>
        </p:sp>
        <p:sp>
          <p:nvSpPr>
            <p:cNvPr id="22" name="TextBox 21">
              <a:extLst>
                <a:ext uri="{FF2B5EF4-FFF2-40B4-BE49-F238E27FC236}">
                  <a16:creationId xmlns:a16="http://schemas.microsoft.com/office/drawing/2014/main" id="{4C4462E0-1D06-E20E-0816-F573AD169329}"/>
                </a:ext>
              </a:extLst>
            </p:cNvPr>
            <p:cNvSpPr txBox="1"/>
            <p:nvPr/>
          </p:nvSpPr>
          <p:spPr>
            <a:xfrm>
              <a:off x="5824991" y="3843253"/>
              <a:ext cx="1030492" cy="266639"/>
            </a:xfrm>
            <a:prstGeom prst="rect">
              <a:avLst/>
            </a:prstGeom>
            <a:noFill/>
          </p:spPr>
          <p:txBody>
            <a:bodyPr wrap="none" rtlCol="0">
              <a:spAutoFit/>
            </a:bodyPr>
            <a:lstStyle/>
            <a:p>
              <a:pPr algn="l"/>
              <a:r>
                <a:rPr lang="en-IN" sz="1201" b="1" spc="0" baseline="0">
                  <a:ln/>
                  <a:solidFill>
                    <a:srgbClr val="000000"/>
                  </a:solidFill>
                  <a:latin typeface="Arial"/>
                  <a:cs typeface="Arial"/>
                  <a:sym typeface="Arial"/>
                  <a:rtl val="0"/>
                </a:rPr>
                <a:t>1 - Minor</a:t>
              </a:r>
            </a:p>
          </p:txBody>
        </p:sp>
        <p:sp>
          <p:nvSpPr>
            <p:cNvPr id="23" name="TextBox 22">
              <a:extLst>
                <a:ext uri="{FF2B5EF4-FFF2-40B4-BE49-F238E27FC236}">
                  <a16:creationId xmlns:a16="http://schemas.microsoft.com/office/drawing/2014/main" id="{C7A235AE-4E1C-7C38-A47C-5BC1F52E97D8}"/>
                </a:ext>
              </a:extLst>
            </p:cNvPr>
            <p:cNvSpPr txBox="1"/>
            <p:nvPr/>
          </p:nvSpPr>
          <p:spPr>
            <a:xfrm>
              <a:off x="5677840" y="3333582"/>
              <a:ext cx="1177704" cy="266639"/>
            </a:xfrm>
            <a:prstGeom prst="rect">
              <a:avLst/>
            </a:prstGeom>
            <a:noFill/>
          </p:spPr>
          <p:txBody>
            <a:bodyPr wrap="none" rtlCol="0">
              <a:spAutoFit/>
            </a:bodyPr>
            <a:lstStyle/>
            <a:p>
              <a:pPr algn="l"/>
              <a:r>
                <a:rPr lang="en-IN" sz="1201" b="1" spc="0" baseline="0">
                  <a:ln/>
                  <a:solidFill>
                    <a:srgbClr val="000000"/>
                  </a:solidFill>
                  <a:latin typeface="Arial"/>
                  <a:cs typeface="Arial"/>
                  <a:sym typeface="Arial"/>
                  <a:rtl val="0"/>
                </a:rPr>
                <a:t>2 - Normal</a:t>
              </a:r>
            </a:p>
          </p:txBody>
        </p:sp>
        <p:sp>
          <p:nvSpPr>
            <p:cNvPr id="24" name="TextBox 23">
              <a:extLst>
                <a:ext uri="{FF2B5EF4-FFF2-40B4-BE49-F238E27FC236}">
                  <a16:creationId xmlns:a16="http://schemas.microsoft.com/office/drawing/2014/main" id="{9C3FDFBE-0F28-F54D-E2E7-43BB73AF9433}"/>
                </a:ext>
              </a:extLst>
            </p:cNvPr>
            <p:cNvSpPr txBox="1"/>
            <p:nvPr/>
          </p:nvSpPr>
          <p:spPr>
            <a:xfrm>
              <a:off x="5836180" y="2836979"/>
              <a:ext cx="1019366" cy="266639"/>
            </a:xfrm>
            <a:prstGeom prst="rect">
              <a:avLst/>
            </a:prstGeom>
            <a:noFill/>
          </p:spPr>
          <p:txBody>
            <a:bodyPr wrap="none" rtlCol="0">
              <a:spAutoFit/>
            </a:bodyPr>
            <a:lstStyle/>
            <a:p>
              <a:pPr algn="l"/>
              <a:r>
                <a:rPr lang="en-IN" sz="1201" b="1" spc="0" baseline="0">
                  <a:ln/>
                  <a:solidFill>
                    <a:srgbClr val="000000"/>
                  </a:solidFill>
                  <a:latin typeface="Arial"/>
                  <a:cs typeface="Arial"/>
                  <a:sym typeface="Arial"/>
                  <a:rtl val="0"/>
                </a:rPr>
                <a:t>3 - Major</a:t>
              </a:r>
            </a:p>
          </p:txBody>
        </p:sp>
        <p:sp>
          <p:nvSpPr>
            <p:cNvPr id="25" name="TextBox 24">
              <a:extLst>
                <a:ext uri="{FF2B5EF4-FFF2-40B4-BE49-F238E27FC236}">
                  <a16:creationId xmlns:a16="http://schemas.microsoft.com/office/drawing/2014/main" id="{EB72B188-CB78-AD22-BEC1-FA7A80D3827E}"/>
                </a:ext>
              </a:extLst>
            </p:cNvPr>
            <p:cNvSpPr txBox="1"/>
            <p:nvPr/>
          </p:nvSpPr>
          <p:spPr>
            <a:xfrm>
              <a:off x="5723104" y="2340377"/>
              <a:ext cx="1132309" cy="266639"/>
            </a:xfrm>
            <a:prstGeom prst="rect">
              <a:avLst/>
            </a:prstGeom>
            <a:noFill/>
          </p:spPr>
          <p:txBody>
            <a:bodyPr wrap="none" rtlCol="0">
              <a:spAutoFit/>
            </a:bodyPr>
            <a:lstStyle/>
            <a:p>
              <a:pPr algn="l"/>
              <a:r>
                <a:rPr lang="en-IN" sz="1201" b="1" spc="0" baseline="0">
                  <a:ln/>
                  <a:solidFill>
                    <a:srgbClr val="000000"/>
                  </a:solidFill>
                  <a:latin typeface="Arial"/>
                  <a:cs typeface="Arial"/>
                  <a:sym typeface="Arial"/>
                  <a:rtl val="0"/>
                </a:rPr>
                <a:t>4 - Urgent</a:t>
              </a:r>
            </a:p>
          </p:txBody>
        </p:sp>
        <p:sp>
          <p:nvSpPr>
            <p:cNvPr id="26" name="TextBox 25">
              <a:extLst>
                <a:ext uri="{FF2B5EF4-FFF2-40B4-BE49-F238E27FC236}">
                  <a16:creationId xmlns:a16="http://schemas.microsoft.com/office/drawing/2014/main" id="{A7BFCBB7-E152-CC00-6709-73F200021D41}"/>
                </a:ext>
              </a:extLst>
            </p:cNvPr>
            <p:cNvSpPr txBox="1"/>
            <p:nvPr/>
          </p:nvSpPr>
          <p:spPr>
            <a:xfrm>
              <a:off x="6775880" y="1695618"/>
              <a:ext cx="3095510" cy="368839"/>
            </a:xfrm>
            <a:prstGeom prst="rect">
              <a:avLst/>
            </a:prstGeom>
            <a:noFill/>
          </p:spPr>
          <p:txBody>
            <a:bodyPr wrap="none" rtlCol="0">
              <a:spAutoFit/>
            </a:bodyPr>
            <a:lstStyle/>
            <a:p>
              <a:pPr algn="l"/>
              <a:r>
                <a:rPr lang="en-IN" sz="1902" b="1" spc="0" baseline="0" dirty="0">
                  <a:ln/>
                  <a:solidFill>
                    <a:srgbClr val="000000"/>
                  </a:solidFill>
                  <a:latin typeface="Arial"/>
                  <a:cs typeface="Arial"/>
                  <a:sym typeface="Arial"/>
                  <a:rtl val="0"/>
                </a:rPr>
                <a:t>Tickets by Severity</a:t>
              </a:r>
            </a:p>
          </p:txBody>
        </p:sp>
      </p:grpSp>
      <p:sp>
        <p:nvSpPr>
          <p:cNvPr id="4" name="Rectangle 2">
            <a:extLst>
              <a:ext uri="{FF2B5EF4-FFF2-40B4-BE49-F238E27FC236}">
                <a16:creationId xmlns:a16="http://schemas.microsoft.com/office/drawing/2014/main" id="{A272E185-4E0E-0C5D-EBE3-38BCAF829A59}"/>
              </a:ext>
            </a:extLst>
          </p:cNvPr>
          <p:cNvSpPr>
            <a:spLocks noGrp="1" noChangeArrowheads="1"/>
          </p:cNvSpPr>
          <p:nvPr>
            <p:ph type="body" sz="half" idx="2"/>
          </p:nvPr>
        </p:nvSpPr>
        <p:spPr bwMode="auto">
          <a:xfrm>
            <a:off x="839788" y="1690064"/>
            <a:ext cx="4239108"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IN" sz="2200" b="1" dirty="0">
                <a:solidFill>
                  <a:srgbClr val="FF0000"/>
                </a:solidFill>
              </a:rPr>
              <a:t>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FontTx/>
              <a:buChar char="•"/>
            </a:pPr>
            <a:r>
              <a:rPr lang="en-US" sz="2200" b="1" dirty="0"/>
              <a:t>91% </a:t>
            </a:r>
            <a:r>
              <a:rPr lang="en-US" sz="2200" dirty="0"/>
              <a:t>of tickets are of Normal severity</a:t>
            </a:r>
            <a:br>
              <a:rPr lang="en-US" altLang="en-US" sz="2200" dirty="0"/>
            </a:br>
            <a:endParaRPr lang="en-US" altLang="en-US" sz="2200" dirty="0"/>
          </a:p>
          <a:p>
            <a:pPr eaLnBrk="0" fontAlgn="base" hangingPunct="0">
              <a:lnSpc>
                <a:spcPct val="100000"/>
              </a:lnSpc>
              <a:spcBef>
                <a:spcPct val="0"/>
              </a:spcBef>
              <a:spcAft>
                <a:spcPct val="0"/>
              </a:spcAft>
              <a:buFontTx/>
              <a:buChar char="•"/>
            </a:pPr>
            <a:r>
              <a:rPr lang="en-US" sz="2200" dirty="0"/>
              <a:t>Major and Urgent tickets are fewer but critical</a:t>
            </a:r>
            <a:br>
              <a:rPr lang="en-US" sz="2200" dirty="0"/>
            </a:br>
            <a:endParaRPr lang="en-US" sz="2200" dirty="0"/>
          </a:p>
          <a:p>
            <a:pPr eaLnBrk="0" fontAlgn="base" hangingPunct="0">
              <a:lnSpc>
                <a:spcPct val="100000"/>
              </a:lnSpc>
              <a:spcBef>
                <a:spcPct val="0"/>
              </a:spcBef>
              <a:spcAft>
                <a:spcPct val="0"/>
              </a:spcAft>
              <a:buFontTx/>
              <a:buChar char="•"/>
            </a:pPr>
            <a:r>
              <a:rPr lang="en-US" sz="2200" dirty="0"/>
              <a:t>Majority of workload is routine in nature</a:t>
            </a:r>
          </a:p>
        </p:txBody>
      </p:sp>
      <p:pic>
        <p:nvPicPr>
          <p:cNvPr id="27" name="Picture 26">
            <a:extLst>
              <a:ext uri="{FF2B5EF4-FFF2-40B4-BE49-F238E27FC236}">
                <a16:creationId xmlns:a16="http://schemas.microsoft.com/office/drawing/2014/main" id="{32E873B9-C365-579A-2E7A-57DC94D55A0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021582" y="1"/>
            <a:ext cx="1170418" cy="934278"/>
          </a:xfrm>
          <a:prstGeom prst="rect">
            <a:avLst/>
          </a:prstGeom>
        </p:spPr>
      </p:pic>
    </p:spTree>
    <p:extLst>
      <p:ext uri="{BB962C8B-B14F-4D97-AF65-F5344CB8AC3E}">
        <p14:creationId xmlns:p14="http://schemas.microsoft.com/office/powerpoint/2010/main" val="1920165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FCC38-28E3-B495-E961-C9CDC85E40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EC62D8-0027-5558-911A-969066D96970}"/>
              </a:ext>
            </a:extLst>
          </p:cNvPr>
          <p:cNvSpPr>
            <a:spLocks noGrp="1"/>
          </p:cNvSpPr>
          <p:nvPr>
            <p:ph type="title"/>
          </p:nvPr>
        </p:nvSpPr>
        <p:spPr>
          <a:xfrm>
            <a:off x="839788" y="0"/>
            <a:ext cx="10512424" cy="1600200"/>
          </a:xfrm>
        </p:spPr>
        <p:txBody>
          <a:bodyPr>
            <a:normAutofit/>
          </a:bodyPr>
          <a:lstStyle/>
          <a:p>
            <a:pPr algn="ctr"/>
            <a:r>
              <a:rPr lang="en-IN" sz="4400" b="1" u="sng" spc="50" dirty="0">
                <a:ln w="0">
                  <a:solidFill>
                    <a:srgbClr val="0070C0"/>
                  </a:solidFill>
                </a:ln>
                <a:solidFill>
                  <a:srgbClr val="0070C0"/>
                </a:solidFill>
                <a:effectLst>
                  <a:innerShdw blurRad="63500" dist="50800" dir="13500000">
                    <a:srgbClr val="000000">
                      <a:alpha val="50000"/>
                    </a:srgbClr>
                  </a:innerShdw>
                </a:effectLst>
              </a:rPr>
              <a:t>Satisfaction Score Distribution</a:t>
            </a:r>
            <a:br>
              <a:rPr lang="en-IN" sz="4400" b="1" u="sng" spc="50" dirty="0">
                <a:ln w="0">
                  <a:solidFill>
                    <a:srgbClr val="0070C0"/>
                  </a:solidFill>
                </a:ln>
                <a:solidFill>
                  <a:srgbClr val="0070C0"/>
                </a:solidFill>
                <a:effectLst>
                  <a:innerShdw blurRad="63500" dist="50800" dir="13500000">
                    <a:srgbClr val="000000">
                      <a:alpha val="50000"/>
                    </a:srgbClr>
                  </a:innerShdw>
                </a:effectLst>
              </a:rPr>
            </a:br>
            <a:endParaRPr lang="en-IN" sz="4400" b="1" u="sng" spc="50" dirty="0">
              <a:ln w="0">
                <a:solidFill>
                  <a:srgbClr val="0070C0"/>
                </a:solidFill>
              </a:ln>
              <a:solidFill>
                <a:srgbClr val="0070C0"/>
              </a:solidFill>
              <a:effectLst>
                <a:innerShdw blurRad="63500" dist="50800" dir="13500000">
                  <a:srgbClr val="000000">
                    <a:alpha val="50000"/>
                  </a:srgbClr>
                </a:innerShdw>
              </a:effectLst>
            </a:endParaRPr>
          </a:p>
        </p:txBody>
      </p:sp>
      <p:grpSp>
        <p:nvGrpSpPr>
          <p:cNvPr id="4" name="Content Placeholder 10">
            <a:extLst>
              <a:ext uri="{FF2B5EF4-FFF2-40B4-BE49-F238E27FC236}">
                <a16:creationId xmlns:a16="http://schemas.microsoft.com/office/drawing/2014/main" id="{C38BB005-6878-A39C-2CAA-EE3AB1D56355}"/>
              </a:ext>
            </a:extLst>
          </p:cNvPr>
          <p:cNvGrpSpPr/>
          <p:nvPr/>
        </p:nvGrpSpPr>
        <p:grpSpPr>
          <a:xfrm>
            <a:off x="5232212" y="1755445"/>
            <a:ext cx="6120000" cy="3347111"/>
            <a:chOff x="5232212" y="1755445"/>
            <a:chExt cx="6120000" cy="3347111"/>
          </a:xfrm>
        </p:grpSpPr>
        <p:sp>
          <p:nvSpPr>
            <p:cNvPr id="6" name="Freeform: Shape 5">
              <a:extLst>
                <a:ext uri="{FF2B5EF4-FFF2-40B4-BE49-F238E27FC236}">
                  <a16:creationId xmlns:a16="http://schemas.microsoft.com/office/drawing/2014/main" id="{482AA028-0DA6-B9F0-B1D6-617974E02D6C}"/>
                </a:ext>
              </a:extLst>
            </p:cNvPr>
            <p:cNvSpPr/>
            <p:nvPr/>
          </p:nvSpPr>
          <p:spPr>
            <a:xfrm>
              <a:off x="5232212" y="1755445"/>
              <a:ext cx="6120000" cy="3347111"/>
            </a:xfrm>
            <a:custGeom>
              <a:avLst/>
              <a:gdLst>
                <a:gd name="csX0" fmla="*/ -1291 w 6120000"/>
                <a:gd name="csY0" fmla="*/ -693 h 3347111"/>
                <a:gd name="csX1" fmla="*/ 6118709 w 6120000"/>
                <a:gd name="csY1" fmla="*/ -693 h 3347111"/>
                <a:gd name="csX2" fmla="*/ 6118709 w 6120000"/>
                <a:gd name="csY2" fmla="*/ 3346418 h 3347111"/>
                <a:gd name="csX3" fmla="*/ -1291 w 6120000"/>
                <a:gd name="csY3" fmla="*/ 3346418 h 3347111"/>
              </a:gdLst>
              <a:ahLst/>
              <a:cxnLst>
                <a:cxn ang="0">
                  <a:pos x="csX0" y="csY0"/>
                </a:cxn>
                <a:cxn ang="0">
                  <a:pos x="csX1" y="csY1"/>
                </a:cxn>
                <a:cxn ang="0">
                  <a:pos x="csX2" y="csY2"/>
                </a:cxn>
                <a:cxn ang="0">
                  <a:pos x="csX3" y="csY3"/>
                </a:cxn>
              </a:cxnLst>
              <a:rect l="l" t="t" r="r" b="b"/>
              <a:pathLst>
                <a:path w="6120000" h="3347111">
                  <a:moveTo>
                    <a:pt x="-1291" y="-693"/>
                  </a:moveTo>
                  <a:lnTo>
                    <a:pt x="6118709" y="-693"/>
                  </a:lnTo>
                  <a:lnTo>
                    <a:pt x="6118709" y="3346418"/>
                  </a:lnTo>
                  <a:lnTo>
                    <a:pt x="-1291" y="3346418"/>
                  </a:lnTo>
                  <a:close/>
                </a:path>
              </a:pathLst>
            </a:custGeom>
            <a:solidFill>
              <a:srgbClr val="FFFFFF"/>
            </a:solidFill>
            <a:ln w="16892" cap="flat">
              <a:noFill/>
              <a:prstDash val="solid"/>
              <a:miter/>
            </a:ln>
          </p:spPr>
        </p:sp>
        <p:sp>
          <p:nvSpPr>
            <p:cNvPr id="7" name="Freeform: Shape 6">
              <a:extLst>
                <a:ext uri="{FF2B5EF4-FFF2-40B4-BE49-F238E27FC236}">
                  <a16:creationId xmlns:a16="http://schemas.microsoft.com/office/drawing/2014/main" id="{3CBA4CE0-3D57-1DC2-828F-A4223DD5EB23}"/>
                </a:ext>
              </a:extLst>
            </p:cNvPr>
            <p:cNvSpPr/>
            <p:nvPr/>
          </p:nvSpPr>
          <p:spPr>
            <a:xfrm>
              <a:off x="6119781" y="2623445"/>
              <a:ext cx="4987292" cy="1760980"/>
            </a:xfrm>
            <a:custGeom>
              <a:avLst/>
              <a:gdLst>
                <a:gd name="csX0" fmla="*/ -1291 w 4987292"/>
                <a:gd name="csY0" fmla="*/ 1760287 h 1760980"/>
                <a:gd name="csX1" fmla="*/ 4986002 w 4987292"/>
                <a:gd name="csY1" fmla="*/ 1760287 h 1760980"/>
                <a:gd name="csX2" fmla="*/ -1291 w 4987292"/>
                <a:gd name="csY2" fmla="*/ 1410589 h 1760980"/>
                <a:gd name="csX3" fmla="*/ 4986002 w 4987292"/>
                <a:gd name="csY3" fmla="*/ 1410589 h 1760980"/>
                <a:gd name="csX4" fmla="*/ -1291 w 4987292"/>
                <a:gd name="csY4" fmla="*/ 1060891 h 1760980"/>
                <a:gd name="csX5" fmla="*/ 4986002 w 4987292"/>
                <a:gd name="csY5" fmla="*/ 1060891 h 1760980"/>
                <a:gd name="csX6" fmla="*/ -1291 w 4987292"/>
                <a:gd name="csY6" fmla="*/ 711193 h 1760980"/>
                <a:gd name="csX7" fmla="*/ 4986002 w 4987292"/>
                <a:gd name="csY7" fmla="*/ 711193 h 1760980"/>
                <a:gd name="csX8" fmla="*/ -1291 w 4987292"/>
                <a:gd name="csY8" fmla="*/ 361494 h 1760980"/>
                <a:gd name="csX9" fmla="*/ 4986002 w 4987292"/>
                <a:gd name="csY9" fmla="*/ 361494 h 1760980"/>
                <a:gd name="csX10" fmla="*/ -1291 w 4987292"/>
                <a:gd name="csY10" fmla="*/ -693 h 1760980"/>
                <a:gd name="csX11" fmla="*/ 4986002 w 4987292"/>
                <a:gd name="csY11" fmla="*/ -693 h 17609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987292" h="1760980">
                  <a:moveTo>
                    <a:pt x="-1291" y="1760287"/>
                  </a:moveTo>
                  <a:lnTo>
                    <a:pt x="4986002" y="1760287"/>
                  </a:lnTo>
                  <a:moveTo>
                    <a:pt x="-1291" y="1410589"/>
                  </a:moveTo>
                  <a:lnTo>
                    <a:pt x="4986002" y="1410589"/>
                  </a:lnTo>
                  <a:moveTo>
                    <a:pt x="-1291" y="1060891"/>
                  </a:moveTo>
                  <a:lnTo>
                    <a:pt x="4986002" y="1060891"/>
                  </a:lnTo>
                  <a:moveTo>
                    <a:pt x="-1291" y="711193"/>
                  </a:moveTo>
                  <a:lnTo>
                    <a:pt x="4986002" y="711193"/>
                  </a:lnTo>
                  <a:moveTo>
                    <a:pt x="-1291" y="361494"/>
                  </a:moveTo>
                  <a:lnTo>
                    <a:pt x="4986002" y="361494"/>
                  </a:lnTo>
                  <a:moveTo>
                    <a:pt x="-1291" y="-693"/>
                  </a:moveTo>
                  <a:lnTo>
                    <a:pt x="4986002" y="-693"/>
                  </a:lnTo>
                </a:path>
              </a:pathLst>
            </a:custGeom>
            <a:noFill/>
            <a:ln w="16892" cap="flat">
              <a:solidFill>
                <a:srgbClr val="D9D9D9"/>
              </a:solidFill>
              <a:prstDash val="solid"/>
              <a:round/>
            </a:ln>
          </p:spPr>
        </p:sp>
        <p:sp>
          <p:nvSpPr>
            <p:cNvPr id="8" name="Freeform: Shape 7">
              <a:extLst>
                <a:ext uri="{FF2B5EF4-FFF2-40B4-BE49-F238E27FC236}">
                  <a16:creationId xmlns:a16="http://schemas.microsoft.com/office/drawing/2014/main" id="{8E637CF4-F1AD-1F8C-3552-3C6485205284}"/>
                </a:ext>
              </a:extLst>
            </p:cNvPr>
            <p:cNvSpPr/>
            <p:nvPr/>
          </p:nvSpPr>
          <p:spPr>
            <a:xfrm>
              <a:off x="6449449" y="2954410"/>
              <a:ext cx="4311049" cy="1785958"/>
            </a:xfrm>
            <a:custGeom>
              <a:avLst/>
              <a:gdLst>
                <a:gd name="csX0" fmla="*/ -1291 w 4311049"/>
                <a:gd name="csY0" fmla="*/ 1435567 h 1785958"/>
                <a:gd name="csX1" fmla="*/ 319924 w 4311049"/>
                <a:gd name="csY1" fmla="*/ 1435567 h 1785958"/>
                <a:gd name="csX2" fmla="*/ 319924 w 4311049"/>
                <a:gd name="csY2" fmla="*/ 1785266 h 1785958"/>
                <a:gd name="csX3" fmla="*/ -1291 w 4311049"/>
                <a:gd name="csY3" fmla="*/ 1785266 h 1785958"/>
                <a:gd name="csX4" fmla="*/ 996168 w 4311049"/>
                <a:gd name="csY4" fmla="*/ 1710330 h 1785958"/>
                <a:gd name="csX5" fmla="*/ 1317383 w 4311049"/>
                <a:gd name="csY5" fmla="*/ 1710330 h 1785958"/>
                <a:gd name="csX6" fmla="*/ 1317383 w 4311049"/>
                <a:gd name="csY6" fmla="*/ 1785266 h 1785958"/>
                <a:gd name="csX7" fmla="*/ 996168 w 4311049"/>
                <a:gd name="csY7" fmla="*/ 1785266 h 1785958"/>
                <a:gd name="csX8" fmla="*/ 1993626 w 4311049"/>
                <a:gd name="csY8" fmla="*/ 1535481 h 1785958"/>
                <a:gd name="csX9" fmla="*/ 2314842 w 4311049"/>
                <a:gd name="csY9" fmla="*/ 1535481 h 1785958"/>
                <a:gd name="csX10" fmla="*/ 2314842 w 4311049"/>
                <a:gd name="csY10" fmla="*/ 1785266 h 1785958"/>
                <a:gd name="csX11" fmla="*/ 1993626 w 4311049"/>
                <a:gd name="csY11" fmla="*/ 1785266 h 1785958"/>
                <a:gd name="csX12" fmla="*/ 2991085 w 4311049"/>
                <a:gd name="csY12" fmla="*/ 811106 h 1785958"/>
                <a:gd name="csX13" fmla="*/ 3312300 w 4311049"/>
                <a:gd name="csY13" fmla="*/ 811106 h 1785958"/>
                <a:gd name="csX14" fmla="*/ 3312300 w 4311049"/>
                <a:gd name="csY14" fmla="*/ 1785266 h 1785958"/>
                <a:gd name="csX15" fmla="*/ 2991085 w 4311049"/>
                <a:gd name="csY15" fmla="*/ 1785266 h 1785958"/>
                <a:gd name="csX16" fmla="*/ 3988543 w 4311049"/>
                <a:gd name="csY16" fmla="*/ -693 h 1785958"/>
                <a:gd name="csX17" fmla="*/ 4309759 w 4311049"/>
                <a:gd name="csY17" fmla="*/ -693 h 1785958"/>
                <a:gd name="csX18" fmla="*/ 4309759 w 4311049"/>
                <a:gd name="csY18" fmla="*/ 1785266 h 1785958"/>
                <a:gd name="csX19" fmla="*/ 3988543 w 4311049"/>
                <a:gd name="csY19" fmla="*/ 1785266 h 1785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311049" h="1785958">
                  <a:moveTo>
                    <a:pt x="-1291" y="1435567"/>
                  </a:moveTo>
                  <a:lnTo>
                    <a:pt x="319924" y="1435567"/>
                  </a:lnTo>
                  <a:lnTo>
                    <a:pt x="319924" y="1785266"/>
                  </a:lnTo>
                  <a:lnTo>
                    <a:pt x="-1291" y="1785266"/>
                  </a:lnTo>
                  <a:close/>
                  <a:moveTo>
                    <a:pt x="996168" y="1710330"/>
                  </a:moveTo>
                  <a:lnTo>
                    <a:pt x="1317383" y="1710330"/>
                  </a:lnTo>
                  <a:lnTo>
                    <a:pt x="1317383" y="1785266"/>
                  </a:lnTo>
                  <a:lnTo>
                    <a:pt x="996168" y="1785266"/>
                  </a:lnTo>
                  <a:close/>
                  <a:moveTo>
                    <a:pt x="1993626" y="1535481"/>
                  </a:moveTo>
                  <a:lnTo>
                    <a:pt x="2314842" y="1535481"/>
                  </a:lnTo>
                  <a:lnTo>
                    <a:pt x="2314842" y="1785266"/>
                  </a:lnTo>
                  <a:lnTo>
                    <a:pt x="1993626" y="1785266"/>
                  </a:lnTo>
                  <a:close/>
                  <a:moveTo>
                    <a:pt x="2991085" y="811106"/>
                  </a:moveTo>
                  <a:lnTo>
                    <a:pt x="3312300" y="811106"/>
                  </a:lnTo>
                  <a:lnTo>
                    <a:pt x="3312300" y="1785266"/>
                  </a:lnTo>
                  <a:lnTo>
                    <a:pt x="2991085" y="1785266"/>
                  </a:lnTo>
                  <a:close/>
                  <a:moveTo>
                    <a:pt x="3988543" y="-693"/>
                  </a:moveTo>
                  <a:lnTo>
                    <a:pt x="4309759" y="-693"/>
                  </a:lnTo>
                  <a:lnTo>
                    <a:pt x="4309759" y="1785266"/>
                  </a:lnTo>
                  <a:lnTo>
                    <a:pt x="3988543" y="1785266"/>
                  </a:lnTo>
                  <a:close/>
                </a:path>
              </a:pathLst>
            </a:custGeom>
            <a:solidFill>
              <a:srgbClr val="4285F4"/>
            </a:solidFill>
            <a:ln w="16892" cap="flat">
              <a:noFill/>
              <a:prstDash val="solid"/>
              <a:miter/>
            </a:ln>
          </p:spPr>
        </p:sp>
        <p:sp>
          <p:nvSpPr>
            <p:cNvPr id="9" name="Freeform: Shape 8">
              <a:extLst>
                <a:ext uri="{FF2B5EF4-FFF2-40B4-BE49-F238E27FC236}">
                  <a16:creationId xmlns:a16="http://schemas.microsoft.com/office/drawing/2014/main" id="{F47F1AD2-0628-17F9-EAF8-CCEC105EB2FB}"/>
                </a:ext>
              </a:extLst>
            </p:cNvPr>
            <p:cNvSpPr/>
            <p:nvPr/>
          </p:nvSpPr>
          <p:spPr>
            <a:xfrm>
              <a:off x="6119781" y="4746613"/>
              <a:ext cx="4987292" cy="12489"/>
            </a:xfrm>
            <a:custGeom>
              <a:avLst/>
              <a:gdLst>
                <a:gd name="csX0" fmla="*/ -1291 w 4987292"/>
                <a:gd name="csY0" fmla="*/ -693 h 12489"/>
                <a:gd name="csX1" fmla="*/ 4986002 w 4987292"/>
                <a:gd name="csY1" fmla="*/ -693 h 12489"/>
              </a:gdLst>
              <a:ahLst/>
              <a:cxnLst>
                <a:cxn ang="0">
                  <a:pos x="csX0" y="csY0"/>
                </a:cxn>
                <a:cxn ang="0">
                  <a:pos x="csX1" y="csY1"/>
                </a:cxn>
              </a:cxnLst>
              <a:rect l="l" t="t" r="r" b="b"/>
              <a:pathLst>
                <a:path w="4987292" h="12489">
                  <a:moveTo>
                    <a:pt x="-1291" y="-693"/>
                  </a:moveTo>
                  <a:lnTo>
                    <a:pt x="4986002" y="-693"/>
                  </a:lnTo>
                </a:path>
              </a:pathLst>
            </a:custGeom>
            <a:noFill/>
            <a:ln w="16892" cap="flat">
              <a:solidFill>
                <a:srgbClr val="D9D9D9"/>
              </a:solidFill>
              <a:prstDash val="solid"/>
              <a:round/>
            </a:ln>
          </p:spPr>
        </p:sp>
        <p:sp>
          <p:nvSpPr>
            <p:cNvPr id="10" name="TextBox 9">
              <a:extLst>
                <a:ext uri="{FF2B5EF4-FFF2-40B4-BE49-F238E27FC236}">
                  <a16:creationId xmlns:a16="http://schemas.microsoft.com/office/drawing/2014/main" id="{94472633-4EF6-A049-2E47-ECA745537489}"/>
                </a:ext>
              </a:extLst>
            </p:cNvPr>
            <p:cNvSpPr txBox="1"/>
            <p:nvPr/>
          </p:nvSpPr>
          <p:spPr>
            <a:xfrm>
              <a:off x="6293259" y="4096873"/>
              <a:ext cx="634193" cy="258873"/>
            </a:xfrm>
            <a:prstGeom prst="rect">
              <a:avLst/>
            </a:prstGeom>
            <a:noFill/>
          </p:spPr>
          <p:txBody>
            <a:bodyPr wrap="none" rtlCol="0">
              <a:spAutoFit/>
            </a:bodyPr>
            <a:lstStyle/>
            <a:p>
              <a:pPr algn="l"/>
              <a:r>
                <a:rPr lang="en-IN" sz="1198" b="1" spc="0" baseline="0">
                  <a:ln/>
                  <a:solidFill>
                    <a:srgbClr val="000000"/>
                  </a:solidFill>
                  <a:latin typeface="Arial"/>
                  <a:cs typeface="Arial"/>
                  <a:sym typeface="Arial"/>
                  <a:rtl val="0"/>
                </a:rPr>
                <a:t>9907</a:t>
              </a:r>
            </a:p>
          </p:txBody>
        </p:sp>
        <p:sp>
          <p:nvSpPr>
            <p:cNvPr id="12" name="TextBox 11">
              <a:extLst>
                <a:ext uri="{FF2B5EF4-FFF2-40B4-BE49-F238E27FC236}">
                  <a16:creationId xmlns:a16="http://schemas.microsoft.com/office/drawing/2014/main" id="{523229A4-2A12-0007-5E31-C0D7E619910F}"/>
                </a:ext>
              </a:extLst>
            </p:cNvPr>
            <p:cNvSpPr txBox="1"/>
            <p:nvPr/>
          </p:nvSpPr>
          <p:spPr>
            <a:xfrm>
              <a:off x="7290717" y="4384125"/>
              <a:ext cx="634193" cy="258873"/>
            </a:xfrm>
            <a:prstGeom prst="rect">
              <a:avLst/>
            </a:prstGeom>
            <a:noFill/>
          </p:spPr>
          <p:txBody>
            <a:bodyPr wrap="none" rtlCol="0">
              <a:spAutoFit/>
            </a:bodyPr>
            <a:lstStyle/>
            <a:p>
              <a:pPr algn="l"/>
              <a:r>
                <a:rPr lang="en-IN" sz="1198" b="1" spc="0" baseline="0">
                  <a:ln/>
                  <a:solidFill>
                    <a:srgbClr val="000000"/>
                  </a:solidFill>
                  <a:latin typeface="Arial"/>
                  <a:cs typeface="Arial"/>
                  <a:sym typeface="Arial"/>
                  <a:rtl val="0"/>
                </a:rPr>
                <a:t>1977</a:t>
              </a:r>
            </a:p>
          </p:txBody>
        </p:sp>
        <p:sp>
          <p:nvSpPr>
            <p:cNvPr id="13" name="TextBox 12">
              <a:extLst>
                <a:ext uri="{FF2B5EF4-FFF2-40B4-BE49-F238E27FC236}">
                  <a16:creationId xmlns:a16="http://schemas.microsoft.com/office/drawing/2014/main" id="{0252BEF3-CE1E-A2EF-AC69-BE20C8FC84E1}"/>
                </a:ext>
              </a:extLst>
            </p:cNvPr>
            <p:cNvSpPr txBox="1"/>
            <p:nvPr/>
          </p:nvSpPr>
          <p:spPr>
            <a:xfrm>
              <a:off x="8288007" y="4196787"/>
              <a:ext cx="634193" cy="258873"/>
            </a:xfrm>
            <a:prstGeom prst="rect">
              <a:avLst/>
            </a:prstGeom>
            <a:noFill/>
          </p:spPr>
          <p:txBody>
            <a:bodyPr wrap="none" rtlCol="0">
              <a:spAutoFit/>
            </a:bodyPr>
            <a:lstStyle/>
            <a:p>
              <a:pPr algn="l"/>
              <a:r>
                <a:rPr lang="en-IN" sz="1198" b="1" spc="0" baseline="0">
                  <a:ln/>
                  <a:solidFill>
                    <a:srgbClr val="000000"/>
                  </a:solidFill>
                  <a:latin typeface="Arial"/>
                  <a:cs typeface="Arial"/>
                  <a:sym typeface="Arial"/>
                  <a:rtl val="0"/>
                </a:rPr>
                <a:t>7282</a:t>
              </a:r>
            </a:p>
          </p:txBody>
        </p:sp>
        <p:sp>
          <p:nvSpPr>
            <p:cNvPr id="14" name="TextBox 13">
              <a:extLst>
                <a:ext uri="{FF2B5EF4-FFF2-40B4-BE49-F238E27FC236}">
                  <a16:creationId xmlns:a16="http://schemas.microsoft.com/office/drawing/2014/main" id="{B70C6DC4-2880-8EFE-20E0-E5A4DC05CA15}"/>
                </a:ext>
              </a:extLst>
            </p:cNvPr>
            <p:cNvSpPr txBox="1"/>
            <p:nvPr/>
          </p:nvSpPr>
          <p:spPr>
            <a:xfrm>
              <a:off x="9228999" y="3484901"/>
              <a:ext cx="747021" cy="258873"/>
            </a:xfrm>
            <a:prstGeom prst="rect">
              <a:avLst/>
            </a:prstGeom>
            <a:noFill/>
          </p:spPr>
          <p:txBody>
            <a:bodyPr wrap="none" rtlCol="0">
              <a:spAutoFit/>
            </a:bodyPr>
            <a:lstStyle/>
            <a:p>
              <a:pPr algn="l"/>
              <a:r>
                <a:rPr lang="en-IN" sz="1198" b="1" spc="0" baseline="0">
                  <a:ln/>
                  <a:solidFill>
                    <a:srgbClr val="000000"/>
                  </a:solidFill>
                  <a:latin typeface="Arial"/>
                  <a:cs typeface="Arial"/>
                  <a:sym typeface="Arial"/>
                  <a:rtl val="0"/>
                </a:rPr>
                <a:t>27562</a:t>
              </a:r>
            </a:p>
          </p:txBody>
        </p:sp>
        <p:sp>
          <p:nvSpPr>
            <p:cNvPr id="15" name="TextBox 14">
              <a:extLst>
                <a:ext uri="{FF2B5EF4-FFF2-40B4-BE49-F238E27FC236}">
                  <a16:creationId xmlns:a16="http://schemas.microsoft.com/office/drawing/2014/main" id="{8FCA671F-98B7-F353-969C-85778B8A2136}"/>
                </a:ext>
              </a:extLst>
            </p:cNvPr>
            <p:cNvSpPr txBox="1"/>
            <p:nvPr/>
          </p:nvSpPr>
          <p:spPr>
            <a:xfrm>
              <a:off x="10226458" y="2660613"/>
              <a:ext cx="747021" cy="258873"/>
            </a:xfrm>
            <a:prstGeom prst="rect">
              <a:avLst/>
            </a:prstGeom>
            <a:noFill/>
          </p:spPr>
          <p:txBody>
            <a:bodyPr wrap="none" rtlCol="0">
              <a:spAutoFit/>
            </a:bodyPr>
            <a:lstStyle/>
            <a:p>
              <a:pPr algn="l"/>
              <a:r>
                <a:rPr lang="en-IN" sz="1198" b="1" spc="0" baseline="0">
                  <a:ln/>
                  <a:solidFill>
                    <a:srgbClr val="000000"/>
                  </a:solidFill>
                  <a:latin typeface="Arial"/>
                  <a:cs typeface="Arial"/>
                  <a:sym typeface="Arial"/>
                  <a:rtl val="0"/>
                </a:rPr>
                <a:t>50770</a:t>
              </a:r>
            </a:p>
          </p:txBody>
        </p:sp>
        <p:sp>
          <p:nvSpPr>
            <p:cNvPr id="16" name="TextBox 15">
              <a:extLst>
                <a:ext uri="{FF2B5EF4-FFF2-40B4-BE49-F238E27FC236}">
                  <a16:creationId xmlns:a16="http://schemas.microsoft.com/office/drawing/2014/main" id="{B5F2CB23-DCEE-2C89-FC33-9FD691E2192B}"/>
                </a:ext>
              </a:extLst>
            </p:cNvPr>
            <p:cNvSpPr txBox="1"/>
            <p:nvPr/>
          </p:nvSpPr>
          <p:spPr>
            <a:xfrm>
              <a:off x="5732991" y="4608931"/>
              <a:ext cx="295708" cy="258873"/>
            </a:xfrm>
            <a:prstGeom prst="rect">
              <a:avLst/>
            </a:prstGeom>
            <a:noFill/>
          </p:spPr>
          <p:txBody>
            <a:bodyPr wrap="none" rtlCol="0">
              <a:spAutoFit/>
            </a:bodyPr>
            <a:lstStyle/>
            <a:p>
              <a:pPr algn="l"/>
              <a:r>
                <a:rPr lang="en-IN" sz="1198" b="1" spc="0" baseline="0">
                  <a:ln/>
                  <a:solidFill>
                    <a:srgbClr val="000000"/>
                  </a:solidFill>
                  <a:latin typeface="Arial"/>
                  <a:cs typeface="Arial"/>
                  <a:sym typeface="Arial"/>
                  <a:rtl val="0"/>
                </a:rPr>
                <a:t>0</a:t>
              </a:r>
            </a:p>
          </p:txBody>
        </p:sp>
        <p:sp>
          <p:nvSpPr>
            <p:cNvPr id="17" name="TextBox 16">
              <a:extLst>
                <a:ext uri="{FF2B5EF4-FFF2-40B4-BE49-F238E27FC236}">
                  <a16:creationId xmlns:a16="http://schemas.microsoft.com/office/drawing/2014/main" id="{6B629528-E323-FEDE-52DD-B9C7DE31D652}"/>
                </a:ext>
              </a:extLst>
            </p:cNvPr>
            <p:cNvSpPr txBox="1"/>
            <p:nvPr/>
          </p:nvSpPr>
          <p:spPr>
            <a:xfrm>
              <a:off x="5281599" y="4259233"/>
              <a:ext cx="747021" cy="258873"/>
            </a:xfrm>
            <a:prstGeom prst="rect">
              <a:avLst/>
            </a:prstGeom>
            <a:noFill/>
          </p:spPr>
          <p:txBody>
            <a:bodyPr wrap="none" rtlCol="0">
              <a:spAutoFit/>
            </a:bodyPr>
            <a:lstStyle/>
            <a:p>
              <a:pPr algn="l"/>
              <a:r>
                <a:rPr lang="en-IN" sz="1198" b="1" spc="0" baseline="0">
                  <a:ln/>
                  <a:solidFill>
                    <a:srgbClr val="000000"/>
                  </a:solidFill>
                  <a:latin typeface="Arial"/>
                  <a:cs typeface="Arial"/>
                  <a:sym typeface="Arial"/>
                  <a:rtl val="0"/>
                </a:rPr>
                <a:t>10000</a:t>
              </a:r>
            </a:p>
          </p:txBody>
        </p:sp>
        <p:sp>
          <p:nvSpPr>
            <p:cNvPr id="18" name="TextBox 17">
              <a:extLst>
                <a:ext uri="{FF2B5EF4-FFF2-40B4-BE49-F238E27FC236}">
                  <a16:creationId xmlns:a16="http://schemas.microsoft.com/office/drawing/2014/main" id="{26CBC7DD-3B13-99F1-F21F-1ED97AC2D8F7}"/>
                </a:ext>
              </a:extLst>
            </p:cNvPr>
            <p:cNvSpPr txBox="1"/>
            <p:nvPr/>
          </p:nvSpPr>
          <p:spPr>
            <a:xfrm>
              <a:off x="5281599" y="3909535"/>
              <a:ext cx="747021" cy="258873"/>
            </a:xfrm>
            <a:prstGeom prst="rect">
              <a:avLst/>
            </a:prstGeom>
            <a:noFill/>
          </p:spPr>
          <p:txBody>
            <a:bodyPr wrap="none" rtlCol="0">
              <a:spAutoFit/>
            </a:bodyPr>
            <a:lstStyle/>
            <a:p>
              <a:pPr algn="l"/>
              <a:r>
                <a:rPr lang="en-IN" sz="1198" b="1" spc="0" baseline="0">
                  <a:ln/>
                  <a:solidFill>
                    <a:srgbClr val="000000"/>
                  </a:solidFill>
                  <a:latin typeface="Arial"/>
                  <a:cs typeface="Arial"/>
                  <a:sym typeface="Arial"/>
                  <a:rtl val="0"/>
                </a:rPr>
                <a:t>20000</a:t>
              </a:r>
            </a:p>
          </p:txBody>
        </p:sp>
        <p:sp>
          <p:nvSpPr>
            <p:cNvPr id="19" name="TextBox 18">
              <a:extLst>
                <a:ext uri="{FF2B5EF4-FFF2-40B4-BE49-F238E27FC236}">
                  <a16:creationId xmlns:a16="http://schemas.microsoft.com/office/drawing/2014/main" id="{3AC74DD1-0D2C-22BA-4D07-62E5C897AFCC}"/>
                </a:ext>
              </a:extLst>
            </p:cNvPr>
            <p:cNvSpPr txBox="1"/>
            <p:nvPr/>
          </p:nvSpPr>
          <p:spPr>
            <a:xfrm>
              <a:off x="5281599" y="3547347"/>
              <a:ext cx="747021" cy="258873"/>
            </a:xfrm>
            <a:prstGeom prst="rect">
              <a:avLst/>
            </a:prstGeom>
            <a:noFill/>
          </p:spPr>
          <p:txBody>
            <a:bodyPr wrap="none" rtlCol="0">
              <a:spAutoFit/>
            </a:bodyPr>
            <a:lstStyle/>
            <a:p>
              <a:pPr algn="l"/>
              <a:r>
                <a:rPr lang="en-IN" sz="1198" b="1" spc="0" baseline="0">
                  <a:ln/>
                  <a:solidFill>
                    <a:srgbClr val="000000"/>
                  </a:solidFill>
                  <a:latin typeface="Arial"/>
                  <a:cs typeface="Arial"/>
                  <a:sym typeface="Arial"/>
                  <a:rtl val="0"/>
                </a:rPr>
                <a:t>30000</a:t>
              </a:r>
            </a:p>
          </p:txBody>
        </p:sp>
        <p:sp>
          <p:nvSpPr>
            <p:cNvPr id="20" name="TextBox 19">
              <a:extLst>
                <a:ext uri="{FF2B5EF4-FFF2-40B4-BE49-F238E27FC236}">
                  <a16:creationId xmlns:a16="http://schemas.microsoft.com/office/drawing/2014/main" id="{7C60F91C-F87D-B279-32B9-E6F09E67490E}"/>
                </a:ext>
              </a:extLst>
            </p:cNvPr>
            <p:cNvSpPr txBox="1"/>
            <p:nvPr/>
          </p:nvSpPr>
          <p:spPr>
            <a:xfrm>
              <a:off x="5281599" y="3197649"/>
              <a:ext cx="747021" cy="258873"/>
            </a:xfrm>
            <a:prstGeom prst="rect">
              <a:avLst/>
            </a:prstGeom>
            <a:noFill/>
          </p:spPr>
          <p:txBody>
            <a:bodyPr wrap="none" rtlCol="0">
              <a:spAutoFit/>
            </a:bodyPr>
            <a:lstStyle/>
            <a:p>
              <a:pPr algn="l"/>
              <a:r>
                <a:rPr lang="en-IN" sz="1198" b="1" spc="0" baseline="0">
                  <a:ln/>
                  <a:solidFill>
                    <a:srgbClr val="000000"/>
                  </a:solidFill>
                  <a:latin typeface="Arial"/>
                  <a:cs typeface="Arial"/>
                  <a:sym typeface="Arial"/>
                  <a:rtl val="0"/>
                </a:rPr>
                <a:t>40000</a:t>
              </a:r>
            </a:p>
          </p:txBody>
        </p:sp>
        <p:sp>
          <p:nvSpPr>
            <p:cNvPr id="21" name="TextBox 20">
              <a:extLst>
                <a:ext uri="{FF2B5EF4-FFF2-40B4-BE49-F238E27FC236}">
                  <a16:creationId xmlns:a16="http://schemas.microsoft.com/office/drawing/2014/main" id="{1EA6982D-8C69-A37A-C9FC-44B47D71B3AF}"/>
                </a:ext>
              </a:extLst>
            </p:cNvPr>
            <p:cNvSpPr txBox="1"/>
            <p:nvPr/>
          </p:nvSpPr>
          <p:spPr>
            <a:xfrm>
              <a:off x="5281599" y="2847951"/>
              <a:ext cx="747021" cy="258873"/>
            </a:xfrm>
            <a:prstGeom prst="rect">
              <a:avLst/>
            </a:prstGeom>
            <a:noFill/>
          </p:spPr>
          <p:txBody>
            <a:bodyPr wrap="none" rtlCol="0">
              <a:spAutoFit/>
            </a:bodyPr>
            <a:lstStyle/>
            <a:p>
              <a:pPr algn="l"/>
              <a:r>
                <a:rPr lang="en-IN" sz="1198" b="1" spc="0" baseline="0">
                  <a:ln/>
                  <a:solidFill>
                    <a:srgbClr val="000000"/>
                  </a:solidFill>
                  <a:latin typeface="Arial"/>
                  <a:cs typeface="Arial"/>
                  <a:sym typeface="Arial"/>
                  <a:rtl val="0"/>
                </a:rPr>
                <a:t>50000</a:t>
              </a:r>
            </a:p>
          </p:txBody>
        </p:sp>
        <p:sp>
          <p:nvSpPr>
            <p:cNvPr id="22" name="TextBox 21">
              <a:extLst>
                <a:ext uri="{FF2B5EF4-FFF2-40B4-BE49-F238E27FC236}">
                  <a16:creationId xmlns:a16="http://schemas.microsoft.com/office/drawing/2014/main" id="{F56B9362-8916-DFB8-9CE3-CBA021457197}"/>
                </a:ext>
              </a:extLst>
            </p:cNvPr>
            <p:cNvSpPr txBox="1"/>
            <p:nvPr/>
          </p:nvSpPr>
          <p:spPr>
            <a:xfrm>
              <a:off x="5281599" y="2498253"/>
              <a:ext cx="747021" cy="258873"/>
            </a:xfrm>
            <a:prstGeom prst="rect">
              <a:avLst/>
            </a:prstGeom>
            <a:noFill/>
          </p:spPr>
          <p:txBody>
            <a:bodyPr wrap="none" rtlCol="0">
              <a:spAutoFit/>
            </a:bodyPr>
            <a:lstStyle/>
            <a:p>
              <a:pPr algn="l"/>
              <a:r>
                <a:rPr lang="en-IN" sz="1198" b="1" spc="0" baseline="0">
                  <a:ln/>
                  <a:solidFill>
                    <a:srgbClr val="000000"/>
                  </a:solidFill>
                  <a:latin typeface="Arial"/>
                  <a:cs typeface="Arial"/>
                  <a:sym typeface="Arial"/>
                  <a:rtl val="0"/>
                </a:rPr>
                <a:t>60000</a:t>
              </a:r>
            </a:p>
          </p:txBody>
        </p:sp>
        <p:sp>
          <p:nvSpPr>
            <p:cNvPr id="23" name="TextBox 22">
              <a:extLst>
                <a:ext uri="{FF2B5EF4-FFF2-40B4-BE49-F238E27FC236}">
                  <a16:creationId xmlns:a16="http://schemas.microsoft.com/office/drawing/2014/main" id="{77250678-8299-4B16-B6EF-7E1E72F8070B}"/>
                </a:ext>
              </a:extLst>
            </p:cNvPr>
            <p:cNvSpPr txBox="1"/>
            <p:nvPr/>
          </p:nvSpPr>
          <p:spPr>
            <a:xfrm>
              <a:off x="6462489" y="4783780"/>
              <a:ext cx="295708" cy="258873"/>
            </a:xfrm>
            <a:prstGeom prst="rect">
              <a:avLst/>
            </a:prstGeom>
            <a:noFill/>
          </p:spPr>
          <p:txBody>
            <a:bodyPr wrap="none" rtlCol="0">
              <a:spAutoFit/>
            </a:bodyPr>
            <a:lstStyle/>
            <a:p>
              <a:pPr algn="l"/>
              <a:r>
                <a:rPr lang="en-IN" sz="1198" b="1" spc="0" baseline="0">
                  <a:ln/>
                  <a:solidFill>
                    <a:srgbClr val="000000"/>
                  </a:solidFill>
                  <a:latin typeface="Arial"/>
                  <a:cs typeface="Arial"/>
                  <a:sym typeface="Arial"/>
                  <a:rtl val="0"/>
                </a:rPr>
                <a:t>1</a:t>
              </a:r>
            </a:p>
          </p:txBody>
        </p:sp>
        <p:sp>
          <p:nvSpPr>
            <p:cNvPr id="24" name="TextBox 23">
              <a:extLst>
                <a:ext uri="{FF2B5EF4-FFF2-40B4-BE49-F238E27FC236}">
                  <a16:creationId xmlns:a16="http://schemas.microsoft.com/office/drawing/2014/main" id="{86223BB6-D190-6739-2A4E-02257572B802}"/>
                </a:ext>
              </a:extLst>
            </p:cNvPr>
            <p:cNvSpPr txBox="1"/>
            <p:nvPr/>
          </p:nvSpPr>
          <p:spPr>
            <a:xfrm>
              <a:off x="7459947" y="4783780"/>
              <a:ext cx="295708" cy="258873"/>
            </a:xfrm>
            <a:prstGeom prst="rect">
              <a:avLst/>
            </a:prstGeom>
            <a:noFill/>
          </p:spPr>
          <p:txBody>
            <a:bodyPr wrap="none" rtlCol="0">
              <a:spAutoFit/>
            </a:bodyPr>
            <a:lstStyle/>
            <a:p>
              <a:pPr algn="l"/>
              <a:r>
                <a:rPr lang="en-IN" sz="1198" b="1" spc="0" baseline="0">
                  <a:ln/>
                  <a:solidFill>
                    <a:srgbClr val="000000"/>
                  </a:solidFill>
                  <a:latin typeface="Arial"/>
                  <a:cs typeface="Arial"/>
                  <a:sym typeface="Arial"/>
                  <a:rtl val="0"/>
                </a:rPr>
                <a:t>2</a:t>
              </a:r>
            </a:p>
          </p:txBody>
        </p:sp>
        <p:sp>
          <p:nvSpPr>
            <p:cNvPr id="25" name="TextBox 24">
              <a:extLst>
                <a:ext uri="{FF2B5EF4-FFF2-40B4-BE49-F238E27FC236}">
                  <a16:creationId xmlns:a16="http://schemas.microsoft.com/office/drawing/2014/main" id="{BE2183C6-960A-318C-8B80-8ACE275B744E}"/>
                </a:ext>
              </a:extLst>
            </p:cNvPr>
            <p:cNvSpPr txBox="1"/>
            <p:nvPr/>
          </p:nvSpPr>
          <p:spPr>
            <a:xfrm>
              <a:off x="8457237" y="4783780"/>
              <a:ext cx="295708" cy="258873"/>
            </a:xfrm>
            <a:prstGeom prst="rect">
              <a:avLst/>
            </a:prstGeom>
            <a:noFill/>
          </p:spPr>
          <p:txBody>
            <a:bodyPr wrap="none" rtlCol="0">
              <a:spAutoFit/>
            </a:bodyPr>
            <a:lstStyle/>
            <a:p>
              <a:pPr algn="l"/>
              <a:r>
                <a:rPr lang="en-IN" sz="1198" b="1" spc="0" baseline="0">
                  <a:ln/>
                  <a:solidFill>
                    <a:srgbClr val="000000"/>
                  </a:solidFill>
                  <a:latin typeface="Arial"/>
                  <a:cs typeface="Arial"/>
                  <a:sym typeface="Arial"/>
                  <a:rtl val="0"/>
                </a:rPr>
                <a:t>3</a:t>
              </a:r>
            </a:p>
          </p:txBody>
        </p:sp>
        <p:sp>
          <p:nvSpPr>
            <p:cNvPr id="26" name="TextBox 25">
              <a:extLst>
                <a:ext uri="{FF2B5EF4-FFF2-40B4-BE49-F238E27FC236}">
                  <a16:creationId xmlns:a16="http://schemas.microsoft.com/office/drawing/2014/main" id="{2DB03B87-0D68-457F-9890-A7240446AA38}"/>
                </a:ext>
              </a:extLst>
            </p:cNvPr>
            <p:cNvSpPr txBox="1"/>
            <p:nvPr/>
          </p:nvSpPr>
          <p:spPr>
            <a:xfrm>
              <a:off x="9454695" y="4783780"/>
              <a:ext cx="295708" cy="258873"/>
            </a:xfrm>
            <a:prstGeom prst="rect">
              <a:avLst/>
            </a:prstGeom>
            <a:noFill/>
          </p:spPr>
          <p:txBody>
            <a:bodyPr wrap="none" rtlCol="0">
              <a:spAutoFit/>
            </a:bodyPr>
            <a:lstStyle/>
            <a:p>
              <a:pPr algn="l"/>
              <a:r>
                <a:rPr lang="en-IN" sz="1198" b="1" spc="0" baseline="0">
                  <a:ln/>
                  <a:solidFill>
                    <a:srgbClr val="000000"/>
                  </a:solidFill>
                  <a:latin typeface="Arial"/>
                  <a:cs typeface="Arial"/>
                  <a:sym typeface="Arial"/>
                  <a:rtl val="0"/>
                </a:rPr>
                <a:t>4</a:t>
              </a:r>
            </a:p>
          </p:txBody>
        </p:sp>
        <p:sp>
          <p:nvSpPr>
            <p:cNvPr id="27" name="TextBox 26">
              <a:extLst>
                <a:ext uri="{FF2B5EF4-FFF2-40B4-BE49-F238E27FC236}">
                  <a16:creationId xmlns:a16="http://schemas.microsoft.com/office/drawing/2014/main" id="{8FBA9A70-C689-49DF-7C91-021A52F3D59D}"/>
                </a:ext>
              </a:extLst>
            </p:cNvPr>
            <p:cNvSpPr txBox="1"/>
            <p:nvPr/>
          </p:nvSpPr>
          <p:spPr>
            <a:xfrm>
              <a:off x="10452154" y="4783780"/>
              <a:ext cx="295708" cy="258873"/>
            </a:xfrm>
            <a:prstGeom prst="rect">
              <a:avLst/>
            </a:prstGeom>
            <a:noFill/>
          </p:spPr>
          <p:txBody>
            <a:bodyPr wrap="none" rtlCol="0">
              <a:spAutoFit/>
            </a:bodyPr>
            <a:lstStyle/>
            <a:p>
              <a:pPr algn="l"/>
              <a:r>
                <a:rPr lang="en-IN" sz="1198" b="1" spc="0" baseline="0">
                  <a:ln/>
                  <a:solidFill>
                    <a:srgbClr val="000000"/>
                  </a:solidFill>
                  <a:latin typeface="Arial"/>
                  <a:cs typeface="Arial"/>
                  <a:sym typeface="Arial"/>
                  <a:rtl val="0"/>
                </a:rPr>
                <a:t>5</a:t>
              </a:r>
            </a:p>
          </p:txBody>
        </p:sp>
        <p:sp>
          <p:nvSpPr>
            <p:cNvPr id="28" name="TextBox 27">
              <a:extLst>
                <a:ext uri="{FF2B5EF4-FFF2-40B4-BE49-F238E27FC236}">
                  <a16:creationId xmlns:a16="http://schemas.microsoft.com/office/drawing/2014/main" id="{78506D21-F53A-650D-85F8-18772E98255E}"/>
                </a:ext>
              </a:extLst>
            </p:cNvPr>
            <p:cNvSpPr txBox="1"/>
            <p:nvPr/>
          </p:nvSpPr>
          <p:spPr>
            <a:xfrm>
              <a:off x="6143978" y="1844606"/>
              <a:ext cx="4448238" cy="356543"/>
            </a:xfrm>
            <a:prstGeom prst="rect">
              <a:avLst/>
            </a:prstGeom>
            <a:noFill/>
          </p:spPr>
          <p:txBody>
            <a:bodyPr wrap="none" rtlCol="0">
              <a:spAutoFit/>
            </a:bodyPr>
            <a:lstStyle/>
            <a:p>
              <a:pPr algn="l"/>
              <a:r>
                <a:rPr lang="en-IN" sz="1897" b="1" spc="0" baseline="0">
                  <a:ln/>
                  <a:solidFill>
                    <a:srgbClr val="000000"/>
                  </a:solidFill>
                  <a:latin typeface="Arial"/>
                  <a:cs typeface="Arial"/>
                  <a:sym typeface="Arial"/>
                  <a:rtl val="0"/>
                </a:rPr>
                <a:t>Distribution by Satisfaction </a:t>
              </a:r>
            </a:p>
          </p:txBody>
        </p:sp>
        <p:sp>
          <p:nvSpPr>
            <p:cNvPr id="29" name="TextBox 28">
              <a:extLst>
                <a:ext uri="{FF2B5EF4-FFF2-40B4-BE49-F238E27FC236}">
                  <a16:creationId xmlns:a16="http://schemas.microsoft.com/office/drawing/2014/main" id="{E4AE99D0-F82A-52C0-F354-B163AC2ABD82}"/>
                </a:ext>
              </a:extLst>
            </p:cNvPr>
            <p:cNvSpPr txBox="1"/>
            <p:nvPr/>
          </p:nvSpPr>
          <p:spPr>
            <a:xfrm>
              <a:off x="7344479" y="2106879"/>
              <a:ext cx="1450489" cy="356543"/>
            </a:xfrm>
            <a:prstGeom prst="rect">
              <a:avLst/>
            </a:prstGeom>
            <a:noFill/>
          </p:spPr>
          <p:txBody>
            <a:bodyPr wrap="none" rtlCol="0">
              <a:spAutoFit/>
            </a:bodyPr>
            <a:lstStyle/>
            <a:p>
              <a:pPr algn="l"/>
              <a:r>
                <a:rPr lang="en-IN" sz="1897" b="1" spc="0" baseline="0">
                  <a:ln/>
                  <a:solidFill>
                    <a:srgbClr val="000000"/>
                  </a:solidFill>
                  <a:latin typeface="Arial"/>
                  <a:cs typeface="Arial"/>
                  <a:sym typeface="Arial"/>
                  <a:rtl val="0"/>
                </a:rPr>
                <a:t>Score (1</a:t>
              </a:r>
            </a:p>
          </p:txBody>
        </p:sp>
        <p:sp>
          <p:nvSpPr>
            <p:cNvPr id="30" name="TextBox 29">
              <a:extLst>
                <a:ext uri="{FF2B5EF4-FFF2-40B4-BE49-F238E27FC236}">
                  <a16:creationId xmlns:a16="http://schemas.microsoft.com/office/drawing/2014/main" id="{033CACA8-3C50-9DBF-0548-BF44E157A6D5}"/>
                </a:ext>
              </a:extLst>
            </p:cNvPr>
            <p:cNvSpPr txBox="1"/>
            <p:nvPr/>
          </p:nvSpPr>
          <p:spPr>
            <a:xfrm>
              <a:off x="8589780" y="2106879"/>
              <a:ext cx="361524" cy="356543"/>
            </a:xfrm>
            <a:prstGeom prst="rect">
              <a:avLst/>
            </a:prstGeom>
            <a:noFill/>
          </p:spPr>
          <p:txBody>
            <a:bodyPr wrap="none" rtlCol="0">
              <a:spAutoFit/>
            </a:bodyPr>
            <a:lstStyle/>
            <a:p>
              <a:pPr algn="l"/>
              <a:r>
                <a:rPr lang="en-IN" sz="1897" b="1" spc="0" baseline="0">
                  <a:ln/>
                  <a:solidFill>
                    <a:srgbClr val="000000"/>
                  </a:solidFill>
                  <a:latin typeface="Arial"/>
                  <a:cs typeface="Arial"/>
                  <a:sym typeface="Arial"/>
                  <a:rtl val="0"/>
                </a:rPr>
                <a:t>–</a:t>
              </a:r>
            </a:p>
          </p:txBody>
        </p:sp>
        <p:sp>
          <p:nvSpPr>
            <p:cNvPr id="31" name="TextBox 30">
              <a:extLst>
                <a:ext uri="{FF2B5EF4-FFF2-40B4-BE49-F238E27FC236}">
                  <a16:creationId xmlns:a16="http://schemas.microsoft.com/office/drawing/2014/main" id="{1A2DF02F-8F53-9C8F-4385-25F07462AEB2}"/>
                </a:ext>
              </a:extLst>
            </p:cNvPr>
            <p:cNvSpPr txBox="1"/>
            <p:nvPr/>
          </p:nvSpPr>
          <p:spPr>
            <a:xfrm>
              <a:off x="8765265" y="2106879"/>
              <a:ext cx="468491" cy="356543"/>
            </a:xfrm>
            <a:prstGeom prst="rect">
              <a:avLst/>
            </a:prstGeom>
            <a:noFill/>
          </p:spPr>
          <p:txBody>
            <a:bodyPr wrap="none" rtlCol="0">
              <a:spAutoFit/>
            </a:bodyPr>
            <a:lstStyle/>
            <a:p>
              <a:pPr algn="l"/>
              <a:r>
                <a:rPr lang="en-IN" sz="1897" b="1" spc="0" baseline="0">
                  <a:ln/>
                  <a:solidFill>
                    <a:srgbClr val="000000"/>
                  </a:solidFill>
                  <a:latin typeface="Arial"/>
                  <a:cs typeface="Arial"/>
                  <a:sym typeface="Arial"/>
                  <a:rtl val="0"/>
                </a:rPr>
                <a:t>5)</a:t>
              </a:r>
            </a:p>
          </p:txBody>
        </p:sp>
      </p:grpSp>
      <p:sp>
        <p:nvSpPr>
          <p:cNvPr id="5" name="Rectangle 1">
            <a:extLst>
              <a:ext uri="{FF2B5EF4-FFF2-40B4-BE49-F238E27FC236}">
                <a16:creationId xmlns:a16="http://schemas.microsoft.com/office/drawing/2014/main" id="{D23837C9-458F-C6F5-046A-B4871DCE6895}"/>
              </a:ext>
            </a:extLst>
          </p:cNvPr>
          <p:cNvSpPr>
            <a:spLocks noGrp="1" noChangeArrowheads="1"/>
          </p:cNvSpPr>
          <p:nvPr>
            <p:ph type="body" sz="half" idx="2"/>
          </p:nvPr>
        </p:nvSpPr>
        <p:spPr bwMode="auto">
          <a:xfrm>
            <a:off x="839788" y="1690066"/>
            <a:ext cx="419935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IN" sz="2200" b="1" dirty="0">
                <a:solidFill>
                  <a:srgbClr val="FF0000"/>
                </a:solidFill>
              </a:rPr>
              <a:t>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FontTx/>
              <a:buChar char="•"/>
            </a:pPr>
            <a:r>
              <a:rPr lang="en-US" sz="2200" b="1" dirty="0"/>
              <a:t>50,770</a:t>
            </a:r>
            <a:r>
              <a:rPr lang="en-US" sz="2200" dirty="0"/>
              <a:t> tickets received the highest rating of </a:t>
            </a:r>
            <a:r>
              <a:rPr lang="en-US" sz="2200" b="1" dirty="0"/>
              <a:t>5/5</a:t>
            </a:r>
            <a:br>
              <a:rPr kumimoji="0" lang="en-US" altLang="en-US" sz="2200" b="0" i="0" u="none" strike="noStrike" cap="none" normalizeH="0" baseline="0" dirty="0">
                <a:ln>
                  <a:noFill/>
                </a:ln>
                <a:solidFill>
                  <a:schemeClr val="tx1"/>
                </a:solidFill>
                <a:effectLst/>
              </a:rPr>
            </a:br>
            <a:endParaRPr kumimoji="0" lang="en-US" altLang="en-US" sz="22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FontTx/>
              <a:buChar char="•"/>
            </a:pPr>
            <a:r>
              <a:rPr lang="en-US" sz="2200" dirty="0"/>
              <a:t>Approximately </a:t>
            </a:r>
            <a:r>
              <a:rPr lang="en-US" sz="2200" b="1" dirty="0"/>
              <a:t>19,166</a:t>
            </a:r>
            <a:r>
              <a:rPr lang="en-US" sz="2200" dirty="0"/>
              <a:t> tickets received low ratings </a:t>
            </a:r>
            <a:r>
              <a:rPr lang="en-US" sz="2200" b="1" dirty="0"/>
              <a:t>(1–3)</a:t>
            </a:r>
            <a:br>
              <a:rPr lang="en-US" sz="2200" b="1" dirty="0"/>
            </a:br>
            <a:endParaRPr lang="en-US" sz="2200" b="1" dirty="0"/>
          </a:p>
          <a:p>
            <a:pPr eaLnBrk="0" fontAlgn="base" hangingPunct="0">
              <a:lnSpc>
                <a:spcPct val="100000"/>
              </a:lnSpc>
              <a:spcBef>
                <a:spcPct val="0"/>
              </a:spcBef>
              <a:spcAft>
                <a:spcPct val="0"/>
              </a:spcAft>
              <a:buFontTx/>
              <a:buChar char="•"/>
            </a:pPr>
            <a:r>
              <a:rPr lang="en-IN" sz="2200" dirty="0"/>
              <a:t>Indicates a consistency gap in service delivery</a:t>
            </a:r>
          </a:p>
        </p:txBody>
      </p:sp>
      <p:pic>
        <p:nvPicPr>
          <p:cNvPr id="32" name="Picture 31">
            <a:extLst>
              <a:ext uri="{FF2B5EF4-FFF2-40B4-BE49-F238E27FC236}">
                <a16:creationId xmlns:a16="http://schemas.microsoft.com/office/drawing/2014/main" id="{FCB71F34-76D6-0E5E-6989-BB7A885AF4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021582" y="1"/>
            <a:ext cx="1170418" cy="934278"/>
          </a:xfrm>
          <a:prstGeom prst="rect">
            <a:avLst/>
          </a:prstGeom>
        </p:spPr>
      </p:pic>
    </p:spTree>
    <p:extLst>
      <p:ext uri="{BB962C8B-B14F-4D97-AF65-F5344CB8AC3E}">
        <p14:creationId xmlns:p14="http://schemas.microsoft.com/office/powerpoint/2010/main" val="4288223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02FCA-0203-813D-5ADE-3B24467E60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02BAFB-190C-2F9E-80E7-BA21A488BDD1}"/>
              </a:ext>
            </a:extLst>
          </p:cNvPr>
          <p:cNvSpPr>
            <a:spLocks noGrp="1"/>
          </p:cNvSpPr>
          <p:nvPr>
            <p:ph type="title"/>
          </p:nvPr>
        </p:nvSpPr>
        <p:spPr>
          <a:xfrm>
            <a:off x="839788" y="0"/>
            <a:ext cx="10512424" cy="1600200"/>
          </a:xfrm>
        </p:spPr>
        <p:txBody>
          <a:bodyPr>
            <a:normAutofit/>
          </a:bodyPr>
          <a:lstStyle/>
          <a:p>
            <a:pPr algn="ctr"/>
            <a:r>
              <a:rPr lang="en-IN" sz="4400" b="1" u="sng" spc="50" dirty="0">
                <a:ln w="0">
                  <a:solidFill>
                    <a:srgbClr val="0070C0"/>
                  </a:solidFill>
                </a:ln>
                <a:solidFill>
                  <a:srgbClr val="0070C0"/>
                </a:solidFill>
                <a:effectLst>
                  <a:innerShdw blurRad="63500" dist="50800" dir="13500000">
                    <a:srgbClr val="000000">
                      <a:alpha val="50000"/>
                    </a:srgbClr>
                  </a:innerShdw>
                </a:effectLst>
              </a:rPr>
              <a:t>Agent Age Group Satisfaction</a:t>
            </a:r>
            <a:br>
              <a:rPr lang="en-IN" sz="4400" b="1" u="sng" spc="50" dirty="0">
                <a:ln w="0">
                  <a:solidFill>
                    <a:srgbClr val="0070C0"/>
                  </a:solidFill>
                </a:ln>
                <a:solidFill>
                  <a:srgbClr val="0070C0"/>
                </a:solidFill>
                <a:effectLst>
                  <a:innerShdw blurRad="63500" dist="50800" dir="13500000">
                    <a:srgbClr val="000000">
                      <a:alpha val="50000"/>
                    </a:srgbClr>
                  </a:innerShdw>
                </a:effectLst>
              </a:rPr>
            </a:br>
            <a:endParaRPr lang="en-IN" sz="4400" b="1" u="sng" spc="50" dirty="0">
              <a:ln w="0">
                <a:solidFill>
                  <a:srgbClr val="0070C0"/>
                </a:solidFill>
              </a:ln>
              <a:solidFill>
                <a:srgbClr val="0070C0"/>
              </a:solidFill>
              <a:effectLst>
                <a:innerShdw blurRad="63500" dist="50800" dir="13500000">
                  <a:srgbClr val="000000">
                    <a:alpha val="50000"/>
                  </a:srgbClr>
                </a:innerShdw>
              </a:effectLst>
            </a:endParaRPr>
          </a:p>
        </p:txBody>
      </p:sp>
      <p:pic>
        <p:nvPicPr>
          <p:cNvPr id="11" name="Content Placeholder 10">
            <a:extLst>
              <a:ext uri="{FF2B5EF4-FFF2-40B4-BE49-F238E27FC236}">
                <a16:creationId xmlns:a16="http://schemas.microsoft.com/office/drawing/2014/main" id="{AC7E6FC0-4033-480B-03B6-D76EC0A725B2}"/>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rcRect/>
          <a:stretch/>
        </p:blipFill>
        <p:spPr>
          <a:xfrm>
            <a:off x="5232212" y="1755445"/>
            <a:ext cx="6120000" cy="3347111"/>
          </a:xfrm>
          <a:prstGeom prst="rect">
            <a:avLst/>
          </a:prstGeom>
        </p:spPr>
      </p:pic>
      <p:sp>
        <p:nvSpPr>
          <p:cNvPr id="5" name="Rectangle 1">
            <a:extLst>
              <a:ext uri="{FF2B5EF4-FFF2-40B4-BE49-F238E27FC236}">
                <a16:creationId xmlns:a16="http://schemas.microsoft.com/office/drawing/2014/main" id="{DF29AE7A-19AC-9FC2-C539-DDEF251B450A}"/>
              </a:ext>
            </a:extLst>
          </p:cNvPr>
          <p:cNvSpPr>
            <a:spLocks noGrp="1" noChangeArrowheads="1"/>
          </p:cNvSpPr>
          <p:nvPr>
            <p:ph type="body" sz="half" idx="2"/>
          </p:nvPr>
        </p:nvSpPr>
        <p:spPr bwMode="auto">
          <a:xfrm>
            <a:off x="839788" y="1690064"/>
            <a:ext cx="419935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IN" sz="2200" b="1" dirty="0">
                <a:solidFill>
                  <a:srgbClr val="FF0000"/>
                </a:solidFill>
              </a:rPr>
              <a:t>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FontTx/>
              <a:buChar char="•"/>
            </a:pPr>
            <a:r>
              <a:rPr lang="en-US" sz="2200" b="1" dirty="0"/>
              <a:t>24–27</a:t>
            </a:r>
            <a:r>
              <a:rPr lang="en-US" sz="2200" dirty="0"/>
              <a:t> age group shows highest satisfaction </a:t>
            </a:r>
            <a:r>
              <a:rPr lang="en-US" sz="2200" b="1" dirty="0"/>
              <a:t>(4.4)</a:t>
            </a:r>
            <a:br>
              <a:rPr kumimoji="0" lang="en-US" altLang="en-US" sz="2200" b="0" i="0" u="none" strike="noStrike" cap="none" normalizeH="0" baseline="0" dirty="0">
                <a:ln>
                  <a:noFill/>
                </a:ln>
                <a:solidFill>
                  <a:schemeClr val="tx1"/>
                </a:solidFill>
                <a:effectLst/>
              </a:rPr>
            </a:br>
            <a:endParaRPr kumimoji="0" lang="en-US" altLang="en-US" sz="22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FontTx/>
              <a:buChar char="•"/>
            </a:pPr>
            <a:r>
              <a:rPr lang="en-US" sz="2200" dirty="0"/>
              <a:t>Middle age groups </a:t>
            </a:r>
            <a:r>
              <a:rPr lang="en-US" sz="2200" b="1" dirty="0"/>
              <a:t>(36–43) </a:t>
            </a:r>
            <a:r>
              <a:rPr lang="en-US" sz="2200" dirty="0"/>
              <a:t>have comparatively lower satisfaction</a:t>
            </a:r>
            <a:br>
              <a:rPr lang="en-US" sz="2200" dirty="0"/>
            </a:br>
            <a:endParaRPr lang="en-US" sz="2200" dirty="0"/>
          </a:p>
          <a:p>
            <a:pPr eaLnBrk="0" fontAlgn="base" hangingPunct="0">
              <a:lnSpc>
                <a:spcPct val="100000"/>
              </a:lnSpc>
              <a:spcBef>
                <a:spcPct val="0"/>
              </a:spcBef>
              <a:spcAft>
                <a:spcPct val="0"/>
              </a:spcAft>
              <a:buFontTx/>
              <a:buChar char="•"/>
            </a:pPr>
            <a:r>
              <a:rPr lang="en-US" sz="2200" dirty="0"/>
              <a:t>Performance varies significantly across age groups</a:t>
            </a:r>
          </a:p>
        </p:txBody>
      </p:sp>
      <p:pic>
        <p:nvPicPr>
          <p:cNvPr id="3" name="Picture 2">
            <a:extLst>
              <a:ext uri="{FF2B5EF4-FFF2-40B4-BE49-F238E27FC236}">
                <a16:creationId xmlns:a16="http://schemas.microsoft.com/office/drawing/2014/main" id="{0576ECEE-64FA-77B7-F58D-34A4FF454DF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021582" y="1"/>
            <a:ext cx="1170418" cy="934278"/>
          </a:xfrm>
          <a:prstGeom prst="rect">
            <a:avLst/>
          </a:prstGeom>
        </p:spPr>
      </p:pic>
    </p:spTree>
    <p:extLst>
      <p:ext uri="{BB962C8B-B14F-4D97-AF65-F5344CB8AC3E}">
        <p14:creationId xmlns:p14="http://schemas.microsoft.com/office/powerpoint/2010/main" val="2745820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0B4B7-7E91-C645-32EF-118E4C0F51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F3B3A-EBE0-125D-F75B-CB3AA19952FD}"/>
              </a:ext>
            </a:extLst>
          </p:cNvPr>
          <p:cNvSpPr>
            <a:spLocks noGrp="1"/>
          </p:cNvSpPr>
          <p:nvPr>
            <p:ph type="title"/>
          </p:nvPr>
        </p:nvSpPr>
        <p:spPr>
          <a:xfrm>
            <a:off x="839788" y="0"/>
            <a:ext cx="10512424" cy="1600200"/>
          </a:xfrm>
        </p:spPr>
        <p:txBody>
          <a:bodyPr>
            <a:normAutofit/>
          </a:bodyPr>
          <a:lstStyle/>
          <a:p>
            <a:pPr algn="ctr"/>
            <a:r>
              <a:rPr lang="en-IN" sz="4400" b="1" u="sng" spc="50" dirty="0">
                <a:ln w="0">
                  <a:solidFill>
                    <a:srgbClr val="0070C0"/>
                  </a:solidFill>
                </a:ln>
                <a:solidFill>
                  <a:srgbClr val="0070C0"/>
                </a:solidFill>
                <a:effectLst>
                  <a:innerShdw blurRad="63500" dist="50800" dir="13500000">
                    <a:srgbClr val="000000">
                      <a:alpha val="50000"/>
                    </a:srgbClr>
                  </a:innerShdw>
                </a:effectLst>
              </a:rPr>
              <a:t>Resolution Time Distribution</a:t>
            </a:r>
            <a:br>
              <a:rPr lang="en-IN" sz="4400" b="1" u="sng" spc="50" dirty="0">
                <a:ln w="0">
                  <a:solidFill>
                    <a:srgbClr val="0070C0"/>
                  </a:solidFill>
                </a:ln>
                <a:solidFill>
                  <a:srgbClr val="0070C0"/>
                </a:solidFill>
                <a:effectLst>
                  <a:innerShdw blurRad="63500" dist="50800" dir="13500000">
                    <a:srgbClr val="000000">
                      <a:alpha val="50000"/>
                    </a:srgbClr>
                  </a:innerShdw>
                </a:effectLst>
              </a:rPr>
            </a:br>
            <a:endParaRPr lang="en-IN" sz="4400" b="1" u="sng" spc="50" dirty="0">
              <a:ln w="0">
                <a:solidFill>
                  <a:srgbClr val="0070C0"/>
                </a:solidFill>
              </a:ln>
              <a:solidFill>
                <a:srgbClr val="0070C0"/>
              </a:solidFill>
              <a:effectLst>
                <a:innerShdw blurRad="63500" dist="50800" dir="13500000">
                  <a:srgbClr val="000000">
                    <a:alpha val="50000"/>
                  </a:srgbClr>
                </a:innerShdw>
              </a:effectLst>
            </a:endParaRPr>
          </a:p>
        </p:txBody>
      </p:sp>
      <p:pic>
        <p:nvPicPr>
          <p:cNvPr id="11" name="Content Placeholder 10">
            <a:extLst>
              <a:ext uri="{FF2B5EF4-FFF2-40B4-BE49-F238E27FC236}">
                <a16:creationId xmlns:a16="http://schemas.microsoft.com/office/drawing/2014/main" id="{4D8727CE-8195-EED2-716E-CF3CD137B83D}"/>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rcRect/>
          <a:stretch/>
        </p:blipFill>
        <p:spPr>
          <a:xfrm>
            <a:off x="5232212" y="1755445"/>
            <a:ext cx="6120000" cy="3347111"/>
          </a:xfrm>
          <a:prstGeom prst="rect">
            <a:avLst/>
          </a:prstGeom>
        </p:spPr>
      </p:pic>
      <p:sp>
        <p:nvSpPr>
          <p:cNvPr id="5" name="Rectangle 1">
            <a:extLst>
              <a:ext uri="{FF2B5EF4-FFF2-40B4-BE49-F238E27FC236}">
                <a16:creationId xmlns:a16="http://schemas.microsoft.com/office/drawing/2014/main" id="{A9ACD7AC-63B0-401A-6518-BF2C5ACA19B5}"/>
              </a:ext>
            </a:extLst>
          </p:cNvPr>
          <p:cNvSpPr>
            <a:spLocks noGrp="1" noChangeArrowheads="1"/>
          </p:cNvSpPr>
          <p:nvPr>
            <p:ph type="body" sz="half" idx="2"/>
          </p:nvPr>
        </p:nvSpPr>
        <p:spPr bwMode="auto">
          <a:xfrm>
            <a:off x="839788" y="1690063"/>
            <a:ext cx="419935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IN" sz="2200" b="1" dirty="0">
                <a:solidFill>
                  <a:srgbClr val="FF0000"/>
                </a:solidFill>
              </a:rPr>
              <a:t>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FontTx/>
              <a:buChar char="•"/>
            </a:pPr>
            <a:r>
              <a:rPr lang="en-US" sz="2200" dirty="0"/>
              <a:t>Majority of tickets are resolved within </a:t>
            </a:r>
            <a:r>
              <a:rPr lang="en-US" sz="2200" b="1" dirty="0"/>
              <a:t>0–9 days</a:t>
            </a:r>
            <a:br>
              <a:rPr kumimoji="0" lang="en-US" altLang="en-US" sz="2200" b="0" i="0" u="none" strike="noStrike" cap="none" normalizeH="0" baseline="0" dirty="0">
                <a:ln>
                  <a:noFill/>
                </a:ln>
                <a:solidFill>
                  <a:schemeClr val="tx1"/>
                </a:solidFill>
                <a:effectLst/>
              </a:rPr>
            </a:br>
            <a:endParaRPr kumimoji="0" lang="en-US" altLang="en-US" sz="22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FontTx/>
              <a:buChar char="•"/>
            </a:pPr>
            <a:r>
              <a:rPr lang="en-US" sz="2200" dirty="0"/>
              <a:t>A smaller portion takes longer than </a:t>
            </a:r>
            <a:r>
              <a:rPr lang="en-US" sz="2200" b="1" dirty="0"/>
              <a:t>10 days</a:t>
            </a:r>
            <a:br>
              <a:rPr lang="en-US" sz="2200" dirty="0"/>
            </a:br>
            <a:endParaRPr lang="en-US" sz="2200" dirty="0"/>
          </a:p>
          <a:p>
            <a:pPr eaLnBrk="0" fontAlgn="base" hangingPunct="0">
              <a:lnSpc>
                <a:spcPct val="100000"/>
              </a:lnSpc>
              <a:spcBef>
                <a:spcPct val="0"/>
              </a:spcBef>
              <a:spcAft>
                <a:spcPct val="0"/>
              </a:spcAft>
              <a:buFontTx/>
              <a:buChar char="•"/>
            </a:pPr>
            <a:r>
              <a:rPr lang="en-US" sz="2200" dirty="0"/>
              <a:t>Shows good operational efficiency for routine tickets</a:t>
            </a:r>
          </a:p>
        </p:txBody>
      </p:sp>
      <p:pic>
        <p:nvPicPr>
          <p:cNvPr id="3" name="Picture 2">
            <a:extLst>
              <a:ext uri="{FF2B5EF4-FFF2-40B4-BE49-F238E27FC236}">
                <a16:creationId xmlns:a16="http://schemas.microsoft.com/office/drawing/2014/main" id="{DA0472F0-D6D3-BA96-4FEF-DC858207D76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021582" y="1"/>
            <a:ext cx="1170418" cy="934278"/>
          </a:xfrm>
          <a:prstGeom prst="rect">
            <a:avLst/>
          </a:prstGeom>
        </p:spPr>
      </p:pic>
    </p:spTree>
    <p:extLst>
      <p:ext uri="{BB962C8B-B14F-4D97-AF65-F5344CB8AC3E}">
        <p14:creationId xmlns:p14="http://schemas.microsoft.com/office/powerpoint/2010/main" val="3754464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a:extLst>
              <a:ext uri="{FF2B5EF4-FFF2-40B4-BE49-F238E27FC236}">
                <a16:creationId xmlns:a16="http://schemas.microsoft.com/office/drawing/2014/main" id="{FB9B057B-2976-3499-8478-A43695AC8F42}"/>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u="sng" spc="50" dirty="0">
                <a:ln w="0">
                  <a:solidFill>
                    <a:srgbClr val="0070C0"/>
                  </a:solidFill>
                </a:ln>
                <a:solidFill>
                  <a:srgbClr val="0070C0"/>
                </a:solidFill>
                <a:effectLst>
                  <a:innerShdw blurRad="63500" dist="50800" dir="13500000">
                    <a:srgbClr val="000000">
                      <a:alpha val="50000"/>
                    </a:srgbClr>
                  </a:innerShdw>
                </a:effectLst>
              </a:rPr>
              <a:t>DASHBOARD</a:t>
            </a:r>
            <a:endParaRPr lang="en-US" sz="3200" b="1" u="sng" dirty="0">
              <a:solidFill>
                <a:srgbClr val="0070C0"/>
              </a:solidFill>
              <a:latin typeface="Arial Black" panose="020B0A04020102020204" pitchFamily="34" charset="0"/>
            </a:endParaRPr>
          </a:p>
        </p:txBody>
      </p:sp>
      <p:pic>
        <p:nvPicPr>
          <p:cNvPr id="10" name="Picture 9">
            <a:extLst>
              <a:ext uri="{FF2B5EF4-FFF2-40B4-BE49-F238E27FC236}">
                <a16:creationId xmlns:a16="http://schemas.microsoft.com/office/drawing/2014/main" id="{C843A890-0FFB-8EA6-7D80-E376E60FB46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9452" y="1325564"/>
            <a:ext cx="12013096" cy="5005662"/>
          </a:xfrm>
          <a:prstGeom prst="rect">
            <a:avLst/>
          </a:prstGeom>
        </p:spPr>
      </p:pic>
      <p:pic>
        <p:nvPicPr>
          <p:cNvPr id="2" name="Picture 1">
            <a:extLst>
              <a:ext uri="{FF2B5EF4-FFF2-40B4-BE49-F238E27FC236}">
                <a16:creationId xmlns:a16="http://schemas.microsoft.com/office/drawing/2014/main" id="{D1AF29C5-6FCE-AB8C-D89B-0E43096BCE3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021582" y="1"/>
            <a:ext cx="1170418" cy="934278"/>
          </a:xfrm>
          <a:prstGeom prst="rect">
            <a:avLst/>
          </a:prstGeom>
        </p:spPr>
      </p:pic>
    </p:spTree>
    <p:extLst>
      <p:ext uri="{BB962C8B-B14F-4D97-AF65-F5344CB8AC3E}">
        <p14:creationId xmlns:p14="http://schemas.microsoft.com/office/powerpoint/2010/main" val="3558767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F431-9BA5-58B1-8E02-B231D28ABEA4}"/>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C1A0FD62-0435-29C8-BBB7-6DAE3485B9DB}"/>
              </a:ext>
            </a:extLst>
          </p:cNvPr>
          <p:cNvSpPr>
            <a:spLocks noGrp="1"/>
          </p:cNvSpPr>
          <p:nvPr>
            <p:ph type="title"/>
          </p:nvPr>
        </p:nvSpPr>
        <p:spPr>
          <a:xfrm>
            <a:off x="838200" y="0"/>
            <a:ext cx="10515600" cy="1325563"/>
          </a:xfrm>
        </p:spPr>
        <p:txBody>
          <a:bodyPr>
            <a:normAutofit/>
          </a:bodyPr>
          <a:lstStyle/>
          <a:p>
            <a:pPr algn="ctr"/>
            <a:r>
              <a:rPr lang="en-IN" b="1" u="sng" spc="50" dirty="0">
                <a:ln w="0">
                  <a:solidFill>
                    <a:srgbClr val="0070C0"/>
                  </a:solidFill>
                </a:ln>
                <a:solidFill>
                  <a:srgbClr val="0070C0"/>
                </a:solidFill>
                <a:effectLst>
                  <a:innerShdw blurRad="63500" dist="50800" dir="13500000">
                    <a:srgbClr val="000000">
                      <a:alpha val="50000"/>
                    </a:srgbClr>
                  </a:innerShdw>
                </a:effectLst>
              </a:rPr>
              <a:t>Recommended Action Plan </a:t>
            </a:r>
          </a:p>
        </p:txBody>
      </p:sp>
      <p:sp>
        <p:nvSpPr>
          <p:cNvPr id="11" name="Content Placeholder 10">
            <a:extLst>
              <a:ext uri="{FF2B5EF4-FFF2-40B4-BE49-F238E27FC236}">
                <a16:creationId xmlns:a16="http://schemas.microsoft.com/office/drawing/2014/main" id="{A5EA1124-CAEB-33F6-28EE-AF9030467B38}"/>
              </a:ext>
            </a:extLst>
          </p:cNvPr>
          <p:cNvSpPr>
            <a:spLocks noGrp="1"/>
          </p:cNvSpPr>
          <p:nvPr>
            <p:ph idx="1"/>
          </p:nvPr>
        </p:nvSpPr>
        <p:spPr>
          <a:xfrm>
            <a:off x="838200" y="1144002"/>
            <a:ext cx="10515600" cy="4351338"/>
          </a:xfrm>
        </p:spPr>
        <p:txBody>
          <a:bodyPr>
            <a:noAutofit/>
          </a:bodyPr>
          <a:lstStyle/>
          <a:p>
            <a:pPr>
              <a:buFont typeface="Wingdings" panose="05000000000000000000" pitchFamily="2" charset="2"/>
              <a:buChar char="Ø"/>
            </a:pPr>
            <a:r>
              <a:rPr lang="en-US" sz="2200" b="1" u="sng" dirty="0">
                <a:solidFill>
                  <a:srgbClr val="FF0000"/>
                </a:solidFill>
              </a:rPr>
              <a:t>Primary Recommendation:</a:t>
            </a:r>
          </a:p>
          <a:p>
            <a:r>
              <a:rPr lang="en-US" sz="2200" b="1" dirty="0">
                <a:solidFill>
                  <a:srgbClr val="00B050"/>
                </a:solidFill>
              </a:rPr>
              <a:t>Upgrade the Ticket Management System.</a:t>
            </a:r>
            <a:br>
              <a:rPr lang="en-US" sz="2200" dirty="0"/>
            </a:br>
            <a:r>
              <a:rPr lang="en-US" sz="2200" dirty="0"/>
              <a:t>- Automate workflows &amp; priority-severity alignment.</a:t>
            </a:r>
            <a:br>
              <a:rPr lang="en-US" sz="2200" dirty="0"/>
            </a:br>
            <a:r>
              <a:rPr lang="en-US" sz="2200" dirty="0"/>
              <a:t>- Reduce resolution time in Hardware </a:t>
            </a:r>
            <a:r>
              <a:rPr lang="en-US" sz="2200" b="1" dirty="0"/>
              <a:t>(7.63 days) </a:t>
            </a:r>
            <a:r>
              <a:rPr lang="en-US" sz="2200" dirty="0"/>
              <a:t>&amp; System </a:t>
            </a:r>
            <a:r>
              <a:rPr lang="en-US" sz="2200" b="1" dirty="0"/>
              <a:t>(6.62 days).</a:t>
            </a:r>
            <a:br>
              <a:rPr lang="en-US" sz="2200" b="1" dirty="0"/>
            </a:br>
            <a:r>
              <a:rPr lang="en-US" sz="2200" dirty="0"/>
              <a:t>- Highest long-term ROI — foundation for all improvements.</a:t>
            </a:r>
            <a:br>
              <a:rPr lang="en-US" sz="2200" dirty="0"/>
            </a:br>
            <a:endParaRPr lang="en-US" sz="2200" dirty="0"/>
          </a:p>
          <a:p>
            <a:pPr>
              <a:buFont typeface="Wingdings" panose="05000000000000000000" pitchFamily="2" charset="2"/>
              <a:buChar char="Ø"/>
            </a:pPr>
            <a:r>
              <a:rPr lang="en-US" sz="2200" b="1" u="sng" dirty="0">
                <a:solidFill>
                  <a:srgbClr val="FF0000"/>
                </a:solidFill>
              </a:rPr>
              <a:t>Secondary Recommendations:</a:t>
            </a:r>
          </a:p>
          <a:p>
            <a:pPr marL="0" indent="0">
              <a:buNone/>
            </a:pPr>
            <a:r>
              <a:rPr lang="en-US" sz="2200" b="1" dirty="0">
                <a:solidFill>
                  <a:srgbClr val="00B050"/>
                </a:solidFill>
              </a:rPr>
              <a:t>1. Targeted Training Programs:</a:t>
            </a:r>
            <a:br>
              <a:rPr lang="en-US" sz="2200" dirty="0"/>
            </a:br>
            <a:r>
              <a:rPr lang="en-US" sz="2200" dirty="0"/>
              <a:t>- Focus on underperforming agents </a:t>
            </a:r>
            <a:r>
              <a:rPr lang="en-US" sz="2200" b="1" dirty="0"/>
              <a:t>(high resolution time &amp; low satisfaction).</a:t>
            </a:r>
            <a:br>
              <a:rPr lang="en-US" sz="2200" b="1" dirty="0"/>
            </a:br>
            <a:r>
              <a:rPr lang="en-US" sz="2200" dirty="0"/>
              <a:t>- Share best practices from top agents.</a:t>
            </a:r>
            <a:br>
              <a:rPr lang="en-US" sz="2200" dirty="0"/>
            </a:br>
            <a:r>
              <a:rPr lang="en-US" sz="2200" dirty="0"/>
              <a:t>- Improve speed &amp; customer satisfaction.</a:t>
            </a:r>
            <a:br>
              <a:rPr lang="en-US" sz="2200" dirty="0"/>
            </a:br>
            <a:br>
              <a:rPr lang="en-US" sz="2200" dirty="0"/>
            </a:br>
            <a:r>
              <a:rPr lang="en-US" sz="2200" b="1" dirty="0">
                <a:solidFill>
                  <a:srgbClr val="00B050"/>
                </a:solidFill>
              </a:rPr>
              <a:t>2.</a:t>
            </a:r>
            <a:r>
              <a:rPr lang="en-IN" sz="2200" dirty="0"/>
              <a:t> </a:t>
            </a:r>
            <a:r>
              <a:rPr lang="en-IN" sz="2200" b="1" dirty="0">
                <a:solidFill>
                  <a:srgbClr val="00B050"/>
                </a:solidFill>
              </a:rPr>
              <a:t>Hire Additional Agents :</a:t>
            </a:r>
          </a:p>
          <a:p>
            <a:pPr marL="0" indent="0">
              <a:buNone/>
            </a:pPr>
            <a:r>
              <a:rPr lang="en-US" sz="2200" dirty="0"/>
              <a:t>    - Only if ticket volume keeps growing after software upgrade.</a:t>
            </a:r>
            <a:br>
              <a:rPr lang="en-US" sz="2200" dirty="0"/>
            </a:br>
            <a:r>
              <a:rPr lang="en-US" sz="2200" dirty="0"/>
              <a:t>    - Reduce workload stress &amp; maintain service quality.</a:t>
            </a:r>
          </a:p>
        </p:txBody>
      </p:sp>
      <p:sp>
        <p:nvSpPr>
          <p:cNvPr id="5" name="TextBox 4">
            <a:extLst>
              <a:ext uri="{FF2B5EF4-FFF2-40B4-BE49-F238E27FC236}">
                <a16:creationId xmlns:a16="http://schemas.microsoft.com/office/drawing/2014/main" id="{47A19942-9689-B28A-81DD-AB64A37A8AB8}"/>
              </a:ext>
            </a:extLst>
          </p:cNvPr>
          <p:cNvSpPr txBox="1"/>
          <p:nvPr/>
        </p:nvSpPr>
        <p:spPr>
          <a:xfrm>
            <a:off x="828259" y="6320998"/>
            <a:ext cx="10701131" cy="430887"/>
          </a:xfrm>
          <a:prstGeom prst="rect">
            <a:avLst/>
          </a:prstGeom>
          <a:noFill/>
        </p:spPr>
        <p:txBody>
          <a:bodyPr wrap="square" rtlCol="0">
            <a:spAutoFit/>
          </a:bodyPr>
          <a:lstStyle/>
          <a:p>
            <a:pPr algn="ctr"/>
            <a:r>
              <a:rPr lang="en-US" sz="2200" b="1" dirty="0">
                <a:solidFill>
                  <a:srgbClr val="FF0000"/>
                </a:solidFill>
              </a:rPr>
              <a:t>Software Upgrade First → Training → Hiring (</a:t>
            </a:r>
            <a:r>
              <a:rPr lang="en-IN" sz="2200" b="1" dirty="0">
                <a:solidFill>
                  <a:srgbClr val="FF0000"/>
                </a:solidFill>
              </a:rPr>
              <a:t>Highest ROI</a:t>
            </a:r>
            <a:r>
              <a:rPr lang="en-US" sz="2200" b="1" dirty="0">
                <a:solidFill>
                  <a:srgbClr val="FF0000"/>
                </a:solidFill>
              </a:rPr>
              <a:t>)</a:t>
            </a:r>
          </a:p>
        </p:txBody>
      </p:sp>
      <p:pic>
        <p:nvPicPr>
          <p:cNvPr id="2" name="Picture 1">
            <a:extLst>
              <a:ext uri="{FF2B5EF4-FFF2-40B4-BE49-F238E27FC236}">
                <a16:creationId xmlns:a16="http://schemas.microsoft.com/office/drawing/2014/main" id="{9EACC7D0-448E-A8FA-57AF-4DB05949F43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021582" y="1"/>
            <a:ext cx="1170418" cy="934278"/>
          </a:xfrm>
          <a:prstGeom prst="rect">
            <a:avLst/>
          </a:prstGeom>
        </p:spPr>
      </p:pic>
    </p:spTree>
    <p:extLst>
      <p:ext uri="{BB962C8B-B14F-4D97-AF65-F5344CB8AC3E}">
        <p14:creationId xmlns:p14="http://schemas.microsoft.com/office/powerpoint/2010/main" val="1163707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006FE-185D-C209-1F93-4F4ED4C90545}"/>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0EAC152C-1F6D-3B77-65B4-8FE4D7A21972}"/>
              </a:ext>
            </a:extLst>
          </p:cNvPr>
          <p:cNvSpPr>
            <a:spLocks noGrp="1"/>
          </p:cNvSpPr>
          <p:nvPr>
            <p:ph type="title"/>
          </p:nvPr>
        </p:nvSpPr>
        <p:spPr>
          <a:xfrm>
            <a:off x="838200" y="0"/>
            <a:ext cx="10515600" cy="1325563"/>
          </a:xfrm>
        </p:spPr>
        <p:txBody>
          <a:bodyPr>
            <a:normAutofit/>
          </a:bodyPr>
          <a:lstStyle/>
          <a:p>
            <a:pPr algn="ctr"/>
            <a:r>
              <a:rPr lang="en-IN" b="1" u="sng" spc="50" dirty="0">
                <a:ln w="0">
                  <a:solidFill>
                    <a:srgbClr val="0070C0"/>
                  </a:solidFill>
                </a:ln>
                <a:solidFill>
                  <a:srgbClr val="0070C0"/>
                </a:solidFill>
                <a:effectLst>
                  <a:innerShdw blurRad="63500" dist="50800" dir="13500000">
                    <a:srgbClr val="000000">
                      <a:alpha val="50000"/>
                    </a:srgbClr>
                  </a:innerShdw>
                </a:effectLst>
              </a:rPr>
              <a:t>Conclusion </a:t>
            </a:r>
          </a:p>
        </p:txBody>
      </p:sp>
      <p:sp>
        <p:nvSpPr>
          <p:cNvPr id="11" name="Content Placeholder 10">
            <a:extLst>
              <a:ext uri="{FF2B5EF4-FFF2-40B4-BE49-F238E27FC236}">
                <a16:creationId xmlns:a16="http://schemas.microsoft.com/office/drawing/2014/main" id="{AFDA521B-7E51-ED42-70F8-AC6DA367F4B9}"/>
              </a:ext>
            </a:extLst>
          </p:cNvPr>
          <p:cNvSpPr>
            <a:spLocks noGrp="1"/>
          </p:cNvSpPr>
          <p:nvPr>
            <p:ph idx="1"/>
          </p:nvPr>
        </p:nvSpPr>
        <p:spPr>
          <a:xfrm>
            <a:off x="838200" y="1070251"/>
            <a:ext cx="10515600" cy="4773958"/>
          </a:xfrm>
        </p:spPr>
        <p:txBody>
          <a:bodyPr>
            <a:normAutofit/>
          </a:bodyPr>
          <a:lstStyle/>
          <a:p>
            <a:r>
              <a:rPr lang="en-US" sz="1800" b="1" u="sng" dirty="0">
                <a:solidFill>
                  <a:srgbClr val="FF0000"/>
                </a:solidFill>
              </a:rPr>
              <a:t>Key Insights presented step by step:</a:t>
            </a:r>
            <a:br>
              <a:rPr lang="en-US" sz="1800" dirty="0"/>
            </a:br>
            <a:endParaRPr lang="en-US" sz="1800" dirty="0"/>
          </a:p>
          <a:p>
            <a:pPr>
              <a:buFont typeface="Wingdings" panose="05000000000000000000" pitchFamily="2" charset="2"/>
              <a:buChar char="Ø"/>
            </a:pPr>
            <a:r>
              <a:rPr lang="en-US" sz="1800" b="1" dirty="0"/>
              <a:t> Step 1: </a:t>
            </a:r>
            <a:r>
              <a:rPr lang="en-US" sz="1800" b="1" u="sng" dirty="0">
                <a:solidFill>
                  <a:srgbClr val="FF0000"/>
                </a:solidFill>
              </a:rPr>
              <a:t>Workload Management</a:t>
            </a:r>
          </a:p>
          <a:p>
            <a:r>
              <a:rPr lang="en-US" sz="1600" dirty="0"/>
              <a:t>Ticket volume nearly doubled from </a:t>
            </a:r>
            <a:r>
              <a:rPr lang="en-US" sz="1600" b="1" dirty="0"/>
              <a:t>13,051 (2016) </a:t>
            </a:r>
            <a:r>
              <a:rPr lang="en-US" sz="1600" dirty="0"/>
              <a:t>to </a:t>
            </a:r>
            <a:r>
              <a:rPr lang="en-US" sz="1600" b="1" dirty="0"/>
              <a:t>29,088 (2020) </a:t>
            </a:r>
            <a:r>
              <a:rPr lang="en-US" sz="1600" dirty="0"/>
              <a:t>— a </a:t>
            </a:r>
            <a:r>
              <a:rPr lang="en-US" sz="1600" b="1" dirty="0"/>
              <a:t>123% </a:t>
            </a:r>
            <a:r>
              <a:rPr lang="en-US" sz="1600" dirty="0"/>
              <a:t>increase.</a:t>
            </a:r>
            <a:br>
              <a:rPr lang="en-US" sz="1600" dirty="0"/>
            </a:br>
            <a:r>
              <a:rPr lang="en-US" sz="1600" dirty="0"/>
              <a:t>Despite this rapid growth, the team kept average resolution time stable at </a:t>
            </a:r>
            <a:r>
              <a:rPr lang="en-US" sz="1600" b="1" dirty="0"/>
              <a:t>4.55 days </a:t>
            </a:r>
            <a:r>
              <a:rPr lang="en-US" sz="1600" dirty="0"/>
              <a:t>— strong workload handling capability.</a:t>
            </a:r>
          </a:p>
          <a:p>
            <a:pPr>
              <a:buFont typeface="Wingdings" panose="05000000000000000000" pitchFamily="2" charset="2"/>
              <a:buChar char="Ø"/>
            </a:pPr>
            <a:r>
              <a:rPr lang="en-US" sz="1800" b="1" dirty="0"/>
              <a:t> Step 2: </a:t>
            </a:r>
            <a:r>
              <a:rPr lang="en-US" sz="1800" b="1" u="sng" dirty="0">
                <a:solidFill>
                  <a:srgbClr val="FF0000"/>
                </a:solidFill>
              </a:rPr>
              <a:t>Service Quality Performance</a:t>
            </a:r>
          </a:p>
          <a:p>
            <a:r>
              <a:rPr lang="en-US" sz="1600" dirty="0"/>
              <a:t>Overall service quality remains high, with a majority of tickets rated </a:t>
            </a:r>
            <a:r>
              <a:rPr lang="en-US" sz="1600" b="1" dirty="0"/>
              <a:t>5/5 (50,770 tickets).</a:t>
            </a:r>
            <a:r>
              <a:rPr lang="en-US" sz="1600" dirty="0"/>
              <a:t>This shows the team consistently delivers excellent support in most cases.</a:t>
            </a:r>
          </a:p>
          <a:p>
            <a:pPr>
              <a:buFont typeface="Wingdings" panose="05000000000000000000" pitchFamily="2" charset="2"/>
              <a:buChar char="Ø"/>
            </a:pPr>
            <a:r>
              <a:rPr lang="en-US" sz="1800" b="1" dirty="0"/>
              <a:t> Step 3: </a:t>
            </a:r>
            <a:r>
              <a:rPr lang="en-US" sz="1800" b="1" u="sng" dirty="0">
                <a:solidFill>
                  <a:srgbClr val="FF0000"/>
                </a:solidFill>
              </a:rPr>
              <a:t>Service Consistency Gap</a:t>
            </a:r>
          </a:p>
          <a:p>
            <a:r>
              <a:rPr lang="en-US" sz="1600" dirty="0"/>
              <a:t>Around </a:t>
            </a:r>
            <a:r>
              <a:rPr lang="en-US" sz="1600" b="1" dirty="0"/>
              <a:t>19,166</a:t>
            </a:r>
            <a:r>
              <a:rPr lang="en-US" sz="1600" dirty="0"/>
              <a:t> tickets received low ratings </a:t>
            </a:r>
            <a:r>
              <a:rPr lang="en-US" sz="1600" b="1" dirty="0"/>
              <a:t>(1–3), </a:t>
            </a:r>
            <a:r>
              <a:rPr lang="en-US" sz="1600" dirty="0"/>
              <a:t>even with high average satisfaction </a:t>
            </a:r>
            <a:r>
              <a:rPr lang="en-US" sz="1600" b="1" dirty="0"/>
              <a:t>(4.10/5).</a:t>
            </a:r>
            <a:r>
              <a:rPr lang="en-US" sz="1600" dirty="0"/>
              <a:t>This highlights a small inconsistency in service delivery that needs standardization.</a:t>
            </a:r>
          </a:p>
          <a:p>
            <a:pPr>
              <a:buFont typeface="Wingdings" panose="05000000000000000000" pitchFamily="2" charset="2"/>
              <a:buChar char="Ø"/>
            </a:pPr>
            <a:r>
              <a:rPr lang="en-US" sz="1800" b="1" dirty="0"/>
              <a:t> Step 4: </a:t>
            </a:r>
            <a:r>
              <a:rPr lang="en-US" sz="1800" b="1" u="sng" dirty="0">
                <a:solidFill>
                  <a:srgbClr val="FF0000"/>
                </a:solidFill>
              </a:rPr>
              <a:t>Operational Bottlenecks</a:t>
            </a:r>
          </a:p>
          <a:p>
            <a:r>
              <a:rPr lang="en-US" sz="1600" dirty="0"/>
              <a:t>Hardware </a:t>
            </a:r>
            <a:r>
              <a:rPr lang="en-US" sz="1600" b="1" dirty="0"/>
              <a:t>(7.63 days) </a:t>
            </a:r>
            <a:r>
              <a:rPr lang="en-US" sz="1600" dirty="0"/>
              <a:t>&amp; System </a:t>
            </a:r>
            <a:r>
              <a:rPr lang="en-US" sz="1600" b="1" dirty="0"/>
              <a:t>(6.62 days) </a:t>
            </a:r>
            <a:r>
              <a:rPr lang="en-US" sz="1600" dirty="0"/>
              <a:t>are main delays — primary contributors to longer resolution times. </a:t>
            </a:r>
            <a:br>
              <a:rPr lang="en-US" sz="1600" dirty="0"/>
            </a:br>
            <a:r>
              <a:rPr lang="en-US" sz="1600" dirty="0"/>
              <a:t>Login Access remains fastest </a:t>
            </a:r>
            <a:r>
              <a:rPr lang="en-US" sz="1600" b="1" dirty="0"/>
              <a:t>(0.31 days)</a:t>
            </a:r>
            <a:r>
              <a:rPr lang="en-US" sz="1600" dirty="0"/>
              <a:t> — clear contrast in process efficiency.</a:t>
            </a:r>
            <a:endParaRPr lang="en-US" sz="1600" dirty="0">
              <a:effectLst/>
            </a:endParaRPr>
          </a:p>
        </p:txBody>
      </p:sp>
      <p:sp>
        <p:nvSpPr>
          <p:cNvPr id="2" name="TextBox 1">
            <a:extLst>
              <a:ext uri="{FF2B5EF4-FFF2-40B4-BE49-F238E27FC236}">
                <a16:creationId xmlns:a16="http://schemas.microsoft.com/office/drawing/2014/main" id="{91864489-B130-5310-2A97-DAE002AA1D67}"/>
              </a:ext>
            </a:extLst>
          </p:cNvPr>
          <p:cNvSpPr txBox="1"/>
          <p:nvPr/>
        </p:nvSpPr>
        <p:spPr>
          <a:xfrm>
            <a:off x="838200" y="5844209"/>
            <a:ext cx="10515600" cy="1354217"/>
          </a:xfrm>
          <a:prstGeom prst="rect">
            <a:avLst/>
          </a:prstGeom>
          <a:noFill/>
        </p:spPr>
        <p:txBody>
          <a:bodyPr wrap="square" rtlCol="0">
            <a:spAutoFit/>
          </a:bodyPr>
          <a:lstStyle/>
          <a:p>
            <a:pPr algn="ctr"/>
            <a:r>
              <a:rPr lang="en-US" sz="2200" b="1" dirty="0">
                <a:solidFill>
                  <a:srgbClr val="00B050"/>
                </a:solidFill>
              </a:rPr>
              <a:t>Upgrade Software + Targeted Training = Best Path to Higher Efficiency &amp; Satisfaction </a:t>
            </a:r>
            <a:br>
              <a:rPr lang="en-US" sz="2200" b="1" dirty="0">
                <a:solidFill>
                  <a:srgbClr val="00B050"/>
                </a:solidFill>
              </a:rPr>
            </a:br>
            <a:r>
              <a:rPr lang="en-US" sz="2000" b="1" dirty="0"/>
              <a:t>Interactive Filters Used: Year, Priority, Severity, Issue Type, Request Category</a:t>
            </a:r>
            <a:endParaRPr lang="en-US" sz="2400" b="1" dirty="0"/>
          </a:p>
          <a:p>
            <a:pPr algn="ctr"/>
            <a:endParaRPr lang="en-US" sz="2200" b="1" dirty="0">
              <a:solidFill>
                <a:srgbClr val="00B050"/>
              </a:solidFill>
            </a:endParaRPr>
          </a:p>
          <a:p>
            <a:endParaRPr lang="en-IN" dirty="0"/>
          </a:p>
        </p:txBody>
      </p:sp>
      <p:pic>
        <p:nvPicPr>
          <p:cNvPr id="3" name="Picture 2">
            <a:extLst>
              <a:ext uri="{FF2B5EF4-FFF2-40B4-BE49-F238E27FC236}">
                <a16:creationId xmlns:a16="http://schemas.microsoft.com/office/drawing/2014/main" id="{F82025B1-2AB1-3697-71D8-726FF950E74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021582" y="1"/>
            <a:ext cx="1170418" cy="934278"/>
          </a:xfrm>
          <a:prstGeom prst="rect">
            <a:avLst/>
          </a:prstGeom>
        </p:spPr>
      </p:pic>
    </p:spTree>
    <p:extLst>
      <p:ext uri="{BB962C8B-B14F-4D97-AF65-F5344CB8AC3E}">
        <p14:creationId xmlns:p14="http://schemas.microsoft.com/office/powerpoint/2010/main" val="618352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648</TotalTime>
  <Words>973</Words>
  <Application>Microsoft Office PowerPoint</Application>
  <PresentationFormat>Widescreen</PresentationFormat>
  <Paragraphs>118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Black</vt:lpstr>
      <vt:lpstr>Calibri</vt:lpstr>
      <vt:lpstr>Calibri Light</vt:lpstr>
      <vt:lpstr>Wingdings</vt:lpstr>
      <vt:lpstr>Office Theme</vt:lpstr>
      <vt:lpstr>IT SUPPORT PERFORMANCE DASHBOARD</vt:lpstr>
      <vt:lpstr>Problem Statement</vt:lpstr>
      <vt:lpstr>Data overview</vt:lpstr>
      <vt:lpstr>Ticket Volume Trend </vt:lpstr>
      <vt:lpstr>Satisfaction Rate Trend </vt:lpstr>
      <vt:lpstr>Ticket Distribution by Category </vt:lpstr>
      <vt:lpstr>Resolution Time by Category </vt:lpstr>
      <vt:lpstr>Severity Distribution </vt:lpstr>
      <vt:lpstr>Satisfaction Score Distribution </vt:lpstr>
      <vt:lpstr>Agent Age Group Satisfaction </vt:lpstr>
      <vt:lpstr>Resolution Time Distribution </vt:lpstr>
      <vt:lpstr>PowerPoint Presentation</vt:lpstr>
      <vt:lpstr>Recommended Action Plan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IT TICKET ANALYSIS</dc:title>
  <dc:creator>Administrator</dc:creator>
  <cp:lastModifiedBy>shivam gupta</cp:lastModifiedBy>
  <cp:revision>17</cp:revision>
  <dcterms:created xsi:type="dcterms:W3CDTF">2026-03-01T10:18:38Z</dcterms:created>
  <dcterms:modified xsi:type="dcterms:W3CDTF">2026-03-26T16:23:44Z</dcterms:modified>
</cp:coreProperties>
</file>